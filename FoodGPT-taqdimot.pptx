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595360" y="-1097280"/>
            <a:ext cx="5029200" cy="3840480"/>
          </a:xfrm>
          <a:prstGeom prst="roundRect">
            <a:avLst>
              <a:gd name="adj" fmla="val 9000"/>
            </a:avLst>
          </a:prstGeom>
          <a:solidFill>
            <a:srgbClr val="FCE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1371600" y="4754880"/>
            <a:ext cx="5029200" cy="3657600"/>
          </a:xfrm>
          <a:prstGeom prst="roundRect">
            <a:avLst>
              <a:gd name="adj" fmla="val 9000"/>
            </a:avLst>
          </a:prstGeom>
          <a:solidFill>
            <a:srgbClr val="FCE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566928" cy="56692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2588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PITCH DECK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96012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A1410"/>
                </a:solidFill>
                <a:latin typeface="Segoe UI"/>
              </a:rPr>
              <a:t>«Bugun nima yeyman?» —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A1410"/>
                </a:solidFill>
                <a:latin typeface="Segoe UI"/>
              </a:rPr>
              <a:t>bir savol, bir javob.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720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6B6259"/>
                </a:solidFill>
                <a:latin typeface="Segoe UI"/>
              </a:rPr>
              <a:t>AI orqali yaqin, ochiq va sizga mos restoranni topadi — bron, navigatsiya, taxi bir oqimda. O'zbekiston uchun.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5623560"/>
            <a:ext cx="3749039" cy="402336"/>
          </a:xfrm>
          <a:prstGeom prst="roundRect">
            <a:avLst>
              <a:gd name="adj" fmla="val 9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Restoran discovery + bron infratuzilmasi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36592" y="5623560"/>
            <a:ext cx="2185415" cy="4023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6B6259"/>
                </a:solidFill>
                <a:latin typeface="Segoe UI"/>
              </a:rPr>
              <a:t>Toshkent · O'zbekiston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029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5029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295" y="548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01 · Muammo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MUAMMO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A1410"/>
                </a:solidFill>
                <a:latin typeface="Segoe UI"/>
              </a:rPr>
              <a:t>Och qolganda — qayerda, nima, aynan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A1410"/>
                </a:solidFill>
                <a:latin typeface="Segoe UI"/>
              </a:rPr>
              <a:t>hozir tayyor? Hech kim bilmaydi.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383280"/>
            <a:ext cx="3429000" cy="2651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63931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A1410"/>
                </a:solidFill>
                <a:latin typeface="Segoe UI"/>
              </a:rPr>
              <a:t>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18795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410"/>
                </a:solidFill>
                <a:latin typeface="Segoe UI"/>
              </a:rPr>
              <a:t>Platforma yo'q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645152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6259"/>
                </a:solidFill>
                <a:latin typeface="Segoe UI"/>
              </a:rPr>
              <a:t>O'zbekistonda barcha restoranlarni birlashtirgan yagona joy yo'q. Odam Google Maps'ga kirib ovqat izlamaydi.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383280"/>
            <a:ext cx="3429000" cy="2651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63931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A1410"/>
                </a:solidFill>
                <a:latin typeface="Segoe UI"/>
              </a:rPr>
              <a:t>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418795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410"/>
                </a:solidFill>
                <a:latin typeface="Segoe UI"/>
              </a:rPr>
              <a:t>Vaqt yo'qoladi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4645152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6259"/>
                </a:solidFill>
                <a:latin typeface="Segoe UI"/>
              </a:rPr>
              <a:t>Ochiqmi? Joy bormi? Narxi? Har birini alohida tekshirish — 10+ daqiqa telefon va guruhlarda.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3383280"/>
            <a:ext cx="3429000" cy="26517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363931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A1410"/>
                </a:solidFill>
                <a:latin typeface="Segoe UI"/>
              </a:rPr>
              <a:t>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418795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410"/>
                </a:solidFill>
                <a:latin typeface="Segoe UI"/>
              </a:rPr>
              <a:t>Qaror og'ir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4645152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6259"/>
                </a:solidFill>
                <a:latin typeface="Segoe UI"/>
              </a:rPr>
              <a:t>«Qayerga boramiz?» — kompaniya, budjet, kayfiyatga mos joyni tanlash doim bahs.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84848"/>
            <a:ext cx="2031949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029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5029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295" y="548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02 · Yechim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YECHIM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A1410"/>
                </a:solidFill>
                <a:latin typeface="Segoe UI"/>
              </a:rPr>
              <a:t>Tabiiy tilda so'rang — AI 30 soniyada hal qiladi.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834640"/>
            <a:ext cx="5394960" cy="2011680"/>
          </a:xfrm>
          <a:prstGeom prst="roundRect">
            <a:avLst>
              <a:gd name="adj" fmla="val 9000"/>
            </a:avLst>
          </a:prstGeom>
          <a:solidFill>
            <a:srgbClr val="FFF7F0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6259"/>
                </a:solidFill>
                <a:latin typeface="Segoe UI"/>
              </a:rPr>
              <a:t>Foydalanuvchi yozadi / gapiradi: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D64815"/>
                </a:solidFill>
                <a:latin typeface="Segoe UI"/>
              </a:rPr>
              <a:t>«200 ming budjetga oilaviy joy»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D64815"/>
                </a:solidFill>
                <a:latin typeface="Segoe UI"/>
              </a:rPr>
              <a:t>«Shashlik yemoqchiman»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834640"/>
            <a:ext cx="5120640" cy="2011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108960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259"/>
                </a:solidFill>
                <a:latin typeface="Segoe UI"/>
              </a:rPr>
              <a:t>AI niyatni tushunadi (taom · budjet · kayfiyat · kompaniya · vaqt) → yaqin, ochiq, mos joylarni topadi → </a:t>
            </a:r>
            <a:r>
              <a:rPr sz="1300" b="1">
                <a:solidFill>
                  <a:srgbClr val="1A1410"/>
                </a:solidFill>
                <a:latin typeface="Segoe UI"/>
              </a:rPr>
              <a:t>bron · navigatsiya · taxi</a:t>
            </a:r>
            <a:r>
              <a:rPr sz="1300" b="0">
                <a:solidFill>
                  <a:srgbClr val="6B6259"/>
                </a:solidFill>
                <a:latin typeface="Segoe UI"/>
              </a:rPr>
              <a:t> bir oqimda.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490472" cy="402336"/>
          </a:xfrm>
          <a:prstGeom prst="roundRect">
            <a:avLst>
              <a:gd name="adj" fmla="val 9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Matn yoki ovoz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22576" y="5212080"/>
            <a:ext cx="1316736" cy="4023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6B6259"/>
                </a:solidFill>
                <a:latin typeface="Segoe UI"/>
              </a:rPr>
              <a:t>uz · ru · 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85616" y="5212080"/>
            <a:ext cx="1577340" cy="4023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6B6259"/>
                </a:solidFill>
                <a:latin typeface="Segoe UI"/>
              </a:rPr>
              <a:t>Real-time holat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09260" y="5212080"/>
            <a:ext cx="1751076" cy="4023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6B6259"/>
                </a:solidFill>
                <a:latin typeface="Segoe UI"/>
              </a:rPr>
              <a:t>Bron bir bosishda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84848"/>
            <a:ext cx="3047923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029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5029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295" y="548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03 · Nima uchun hozir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NIMA UCHUN AYNAN HOZIR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A1410"/>
                </a:solidFill>
                <a:latin typeface="Segoe UI"/>
              </a:rPr>
              <a:t>Bozor, texnologiya va odat — uchalasi bir vaqtda pishdi.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200400"/>
            <a:ext cx="3429000" cy="2834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45643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A1410"/>
                </a:solidFill>
                <a:latin typeface="Segoe UI"/>
              </a:rPr>
              <a:t>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00507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410"/>
                </a:solidFill>
                <a:latin typeface="Segoe UI"/>
              </a:rPr>
              <a:t>Telegram dominant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462272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6259"/>
                </a:solidFill>
                <a:latin typeface="Segoe UI"/>
              </a:rPr>
              <a:t>O'zbekistonda TG — asosiy super-ilova. Mini App orqali millionlab foydalanuvchiga bir bosishda kirish.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200400"/>
            <a:ext cx="3429000" cy="2834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45643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A1410"/>
                </a:solidFill>
                <a:latin typeface="Segoe UI"/>
              </a:rP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400507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410"/>
                </a:solidFill>
                <a:latin typeface="Segoe UI"/>
              </a:rPr>
              <a:t>AI arzonlashdi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4462272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6259"/>
                </a:solidFill>
                <a:latin typeface="Segoe UI"/>
              </a:rPr>
              <a:t>Gemini kabi modellar tabiiy tilni uz/ru/en tushunadi — bir yil oldin bu narx/sifatda imkonsiz edi.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3200400"/>
            <a:ext cx="3429000" cy="2834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345643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A1410"/>
                </a:solidFill>
                <a:latin typeface="Segoe UI"/>
              </a:rPr>
              <a:t>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400507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410"/>
                </a:solidFill>
                <a:latin typeface="Segoe UI"/>
              </a:rPr>
              <a:t>Digital odat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4462272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6259"/>
                </a:solidFill>
                <a:latin typeface="Segoe UI"/>
              </a:rPr>
              <a:t>Payme/Click, online bron, taksi ilovalari — foydalanuvchi tayyor. Bo'shliq — ovqatda.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84848"/>
            <a:ext cx="4063898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029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5029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295" y="548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04 · Bozor hajmi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BOZOR HAJMI · TAXMINIY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A1410"/>
                </a:solidFill>
                <a:latin typeface="Segoe UI"/>
              </a:rPr>
              <a:t>O'sib borayotgan, hali egallanmagan bozor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1752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6B35"/>
                </a:solidFill>
                <a:latin typeface="Segoe UI"/>
              </a:rPr>
              <a:t>$2.5B+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605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259"/>
                </a:solidFill>
                <a:latin typeface="Segoe UI"/>
              </a:rPr>
              <a:t>O'zbekiston restoran/HoReCa bozori (TAM) </a:t>
            </a:r>
            <a:r>
              <a:rPr sz="1100" b="1">
                <a:solidFill>
                  <a:srgbClr val="D64815"/>
                </a:solidFill>
                <a:latin typeface="Segoe UI"/>
              </a:rPr>
              <a:t>· taxminiy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01752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6B35"/>
                </a:solidFill>
                <a:latin typeface="Segoe UI"/>
              </a:rPr>
              <a:t>30K+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1605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259"/>
                </a:solidFill>
                <a:latin typeface="Segoe UI"/>
              </a:rPr>
              <a:t>Restoran, kafe, choyxona (SAM) </a:t>
            </a:r>
            <a:r>
              <a:rPr sz="1100" b="1">
                <a:solidFill>
                  <a:srgbClr val="D64815"/>
                </a:solidFill>
                <a:latin typeface="Segoe UI"/>
              </a:rPr>
              <a:t>· taxminiy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01752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6B35"/>
                </a:solidFill>
                <a:latin typeface="Segoe UI"/>
              </a:rPr>
              <a:t>$40M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41605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6259"/>
                </a:solidFill>
                <a:latin typeface="Segoe UI"/>
              </a:rPr>
              <a:t>3 yilda erishsa bo'ladigan (SOM) </a:t>
            </a:r>
            <a:r>
              <a:rPr sz="1100" b="1">
                <a:solidFill>
                  <a:srgbClr val="D64815"/>
                </a:solidFill>
                <a:latin typeface="Segoe UI"/>
              </a:rPr>
              <a:t>· taxminiy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57784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259"/>
                </a:solidFill>
                <a:latin typeface="Segoe UI"/>
              </a:rPr>
              <a:t>O'zbekiston aholisi 37M+, o'rta sinf va tashqarida ovqatlanish tez o'smoqda. Toshkentda boshlaymiz → yirik shaharlarga (Samarqand, Buxoro, Farg'ona) kengayamiz.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84848"/>
            <a:ext cx="5079873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029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5029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295" y="548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05 · Raqobat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RAQOBAT VA BIZNING USTUNLIGIMIZ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A1410"/>
                </a:solidFill>
                <a:latin typeface="Segoe UI"/>
              </a:rPr>
              <a:t>Discovery + bron bo'shlig'ini hech kim to'ldirmagan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5394960" cy="3200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259"/>
                </a:solidFill>
                <a:latin typeface="Segoe UI"/>
              </a:rPr>
              <a:t>Yandex Eats / Uzum Tezkor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17520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89F94"/>
                </a:solidFill>
                <a:latin typeface="Segoe UI"/>
              </a:rPr>
              <a:t>Delivery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493008"/>
            <a:ext cx="4800600" cy="10972"/>
          </a:xfrm>
          <a:prstGeom prst="rect">
            <a:avLst/>
          </a:prstGeom>
          <a:solidFill>
            <a:srgbClr val="E4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75887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259"/>
                </a:solidFill>
                <a:latin typeface="Segoe UI"/>
              </a:rPr>
              <a:t>Google Maps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675887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89F94"/>
                </a:solidFill>
                <a:latin typeface="Segoe UI"/>
              </a:rPr>
              <a:t>Xarita, ovqat emas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4151375"/>
            <a:ext cx="4800600" cy="10972"/>
          </a:xfrm>
          <a:prstGeom prst="rect">
            <a:avLst/>
          </a:prstGeom>
          <a:solidFill>
            <a:srgbClr val="E4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34255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B6259"/>
                </a:solidFill>
                <a:latin typeface="Segoe UI"/>
              </a:rPr>
              <a:t>Instagram / TG guruhlar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334255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89F94"/>
                </a:solidFill>
                <a:latin typeface="Segoe UI"/>
              </a:rPr>
              <a:t>Tartibsiz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4809744"/>
            <a:ext cx="4800600" cy="10972"/>
          </a:xfrm>
          <a:prstGeom prst="rect">
            <a:avLst/>
          </a:prstGeom>
          <a:solidFill>
            <a:srgbClr val="E4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992623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64815"/>
                </a:solidFill>
                <a:latin typeface="Segoe UI"/>
              </a:rPr>
              <a:t>FoodGPT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992623"/>
            <a:ext cx="1965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A855"/>
                </a:solidFill>
                <a:latin typeface="Segoe UI"/>
              </a:rPr>
              <a:t>AI + bron + real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5468111"/>
            <a:ext cx="4800600" cy="10972"/>
          </a:xfrm>
          <a:prstGeom prst="rect">
            <a:avLst/>
          </a:prstGeom>
          <a:solidFill>
            <a:srgbClr val="E4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7889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410"/>
                </a:solidFill>
                <a:latin typeface="Segoe UI"/>
              </a:rPr>
              <a:t>Bizning moat (himoya)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8328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6B35"/>
                </a:solidFill>
                <a:latin typeface="Segoe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338328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410"/>
                </a:solidFill>
                <a:latin typeface="Segoe UI"/>
              </a:rPr>
              <a:t>Real-time restoran data + bron infratuzilmasi (OpenTable yo'li)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25196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6B35"/>
                </a:solidFill>
                <a:latin typeface="Segoe U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4848" y="425196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410"/>
                </a:solidFill>
                <a:latin typeface="Segoe UI"/>
              </a:rPr>
              <a:t>AI — eshik, data — uy. Ko'chirib bo'lmaydi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12064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6B35"/>
                </a:solidFill>
                <a:latin typeface="Segoe UI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4848" y="512064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410"/>
                </a:solidFill>
                <a:latin typeface="Segoe UI"/>
              </a:rPr>
              <a:t>Biz «yana bir delivery» EMASmiz — discovery bizniki, dastavka hamkor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84848"/>
            <a:ext cx="6095847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029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5029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295" y="548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06 · Mahsulot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MAHSULOT — QANDAY ISHLAYDI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A1410"/>
                </a:solidFill>
                <a:latin typeface="Segoe UI"/>
              </a:rPr>
              <a:t>Lokatsiya → so'rov → tavsiya → amal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17520"/>
            <a:ext cx="2514600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41932" y="3200400"/>
            <a:ext cx="402336" cy="40233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39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A1410"/>
                </a:solidFill>
                <a:latin typeface="Segoe UI"/>
              </a:rPr>
              <a:t>Lokatsiya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6259"/>
                </a:solidFill>
                <a:latin typeface="Segoe UI"/>
              </a:rPr>
              <a:t>TG/geolokatsiya bilan koordinata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361188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6B35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017520"/>
            <a:ext cx="2514600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6572" y="3200400"/>
            <a:ext cx="402336" cy="40233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749039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A1410"/>
                </a:solidFill>
                <a:latin typeface="Segoe UI"/>
              </a:rPr>
              <a:t>So'rov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41605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6259"/>
                </a:solidFill>
                <a:latin typeface="Segoe UI"/>
              </a:rPr>
              <a:t>Matn yoki ovoz — tabiiy til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361188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6B35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017520"/>
            <a:ext cx="2514600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411211" y="3200400"/>
            <a:ext cx="402336" cy="40233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49039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A1410"/>
                </a:solidFill>
                <a:latin typeface="Segoe UI"/>
              </a:rPr>
              <a:t>AI + Geo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1605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6259"/>
                </a:solidFill>
                <a:latin typeface="Segoe UI"/>
              </a:rPr>
              <a:t>Niyat + yaqin, ochiq, mos joylar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1392" y="3611880"/>
            <a:ext cx="365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6B35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3017520"/>
            <a:ext cx="2514600" cy="19659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5852" y="3200400"/>
            <a:ext cx="402336" cy="40233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749039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A1410"/>
                </a:solidFill>
                <a:latin typeface="Segoe UI"/>
              </a:rPr>
              <a:t>Amal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41605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6259"/>
                </a:solidFill>
                <a:latin typeface="Segoe UI"/>
              </a:rPr>
              <a:t>Bron · zakaz · navigatsiya · taxi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440680"/>
            <a:ext cx="1751076" cy="402336"/>
          </a:xfrm>
          <a:prstGeom prst="roundRect">
            <a:avLst>
              <a:gd name="adj" fmla="val 9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Telegram Mini 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83180" y="5440680"/>
            <a:ext cx="534924" cy="402336"/>
          </a:xfrm>
          <a:prstGeom prst="roundRect">
            <a:avLst>
              <a:gd name="adj" fmla="val 9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PWA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64408" y="5440680"/>
            <a:ext cx="1056132" cy="4023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6B6259"/>
                </a:solidFill>
                <a:latin typeface="Segoe UI"/>
              </a:rPr>
              <a:t>Gemini 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66844" y="5440680"/>
            <a:ext cx="2532888" cy="4023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6B6259"/>
                </a:solidFill>
                <a:latin typeface="Segoe UI"/>
              </a:rPr>
              <a:t>Voice (realtime + STT/TTS)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46036" y="5440680"/>
            <a:ext cx="1664208" cy="4023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6B6259"/>
                </a:solidFill>
                <a:latin typeface="Segoe UI"/>
              </a:rPr>
              <a:t>Website ✅ tayyor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84848"/>
            <a:ext cx="7111822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029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5029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295" y="548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07 · Biznes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BIZNES MODEL · TAXMINIY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A1410"/>
                </a:solidFill>
                <a:latin typeface="Segoe UI"/>
              </a:rPr>
              <a:t>Restorandan komissiya, foydalanuvchiga bepul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26080"/>
            <a:ext cx="3429000" cy="2468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18211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A1410"/>
                </a:solidFill>
                <a:latin typeface="Segoe UI"/>
              </a:rPr>
              <a:t>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73075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410"/>
                </a:solidFill>
                <a:latin typeface="Segoe UI"/>
              </a:rPr>
              <a:t>Bron komissiya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187952"/>
            <a:ext cx="28803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6259"/>
                </a:solidFill>
                <a:latin typeface="Segoe UI"/>
              </a:rPr>
              <a:t>Har muvaffaqiyatli bron/zakaz uchun restorandan 3–8% yoki fiks to'lov.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926080"/>
            <a:ext cx="3429000" cy="2468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318211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A1410"/>
                </a:solidFill>
                <a:latin typeface="Segoe UI"/>
              </a:rPr>
              <a:t>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73075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410"/>
                </a:solidFill>
                <a:latin typeface="Segoe UI"/>
              </a:rPr>
              <a:t>Premium listing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4187952"/>
            <a:ext cx="28803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6259"/>
                </a:solidFill>
                <a:latin typeface="Segoe UI"/>
              </a:rPr>
              <a:t>Restoranlar uchun oylik obuna — yuqori ko'rinish, analitika, promo. $30–100/oy.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2926080"/>
            <a:ext cx="3429000" cy="2468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318211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A1410"/>
                </a:solidFill>
                <a:latin typeface="Segoe U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3730752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410"/>
                </a:solidFill>
                <a:latin typeface="Segoe UI"/>
              </a:rPr>
              <a:t>Data &amp; B2B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4187952"/>
            <a:ext cx="2880360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6259"/>
                </a:solidFill>
                <a:latin typeface="Segoe UI"/>
              </a:rPr>
              <a:t>Keyin: POS integratsiya, talab analitikasi, reklama. Yuqori marjali qatlam.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692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6259"/>
                </a:solidFill>
                <a:latin typeface="Segoe UI"/>
              </a:rPr>
              <a:t>Dastavka — hamkor kuryer (Yandex/Uzum) orqali. Biz og'ir logistikaga kirmaymiz — </a:t>
            </a:r>
            <a:r>
              <a:rPr sz="1200" b="1">
                <a:solidFill>
                  <a:srgbClr val="1A1410"/>
                </a:solidFill>
                <a:latin typeface="Segoe UI"/>
              </a:rPr>
              <a:t>zakaz + data bizda</a:t>
            </a:r>
            <a:r>
              <a:rPr sz="1200" b="0">
                <a:solidFill>
                  <a:srgbClr val="6B6259"/>
                </a:solidFill>
                <a:latin typeface="Segoe UI"/>
              </a:rPr>
              <a:t>, yetkazish hamkorda.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84848"/>
            <a:ext cx="8127796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029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5029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295" y="548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08 · Jamoa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JAMOA · TO'LDIRING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A1410"/>
                </a:solidFill>
                <a:latin typeface="Segoe UI"/>
              </a:rPr>
              <a:t>Mahsulot, texnologiya va bozorni biladigan jamoa</a:t>
            </a:r>
          </a:p>
        </p:txBody>
      </p:sp>
      <p:sp>
        <p:nvSpPr>
          <p:cNvPr id="8" name="Oval 7"/>
          <p:cNvSpPr/>
          <p:nvPr/>
        </p:nvSpPr>
        <p:spPr>
          <a:xfrm>
            <a:off x="2240280" y="2926080"/>
            <a:ext cx="1005840" cy="1005840"/>
          </a:xfrm>
          <a:prstGeom prst="ellipse">
            <a:avLst/>
          </a:prstGeom>
          <a:solidFill>
            <a:srgbClr val="F5EFE7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/>
              <a:t>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0690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A1410"/>
                </a:solidFill>
                <a:latin typeface="Segoe UI"/>
              </a:rPr>
              <a:t>Ism Familiya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348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64815"/>
                </a:solidFill>
                <a:latin typeface="Segoe UI"/>
              </a:rPr>
              <a:t>Asoschi · CEO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7548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6259"/>
                </a:solidFill>
                <a:latin typeface="Segoe UI"/>
              </a:rPr>
              <a:t>Mahsulot &amp; strategiya</a:t>
            </a:r>
          </a:p>
        </p:txBody>
      </p:sp>
      <p:sp>
        <p:nvSpPr>
          <p:cNvPr id="12" name="Oval 11"/>
          <p:cNvSpPr/>
          <p:nvPr/>
        </p:nvSpPr>
        <p:spPr>
          <a:xfrm>
            <a:off x="5897880" y="2926080"/>
            <a:ext cx="1005840" cy="1005840"/>
          </a:xfrm>
          <a:prstGeom prst="ellipse">
            <a:avLst/>
          </a:prstGeom>
          <a:solidFill>
            <a:srgbClr val="F5EFE7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/>
              <a:t>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40690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A1410"/>
                </a:solidFill>
                <a:latin typeface="Segoe UI"/>
              </a:rPr>
              <a:t>Ism Familiya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44348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64815"/>
                </a:solidFill>
                <a:latin typeface="Segoe UI"/>
              </a:rPr>
              <a:t>CTO · Muhandislik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7548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6259"/>
                </a:solidFill>
                <a:latin typeface="Segoe UI"/>
              </a:rPr>
              <a:t>AI · backend · mijozlar</a:t>
            </a:r>
          </a:p>
        </p:txBody>
      </p:sp>
      <p:sp>
        <p:nvSpPr>
          <p:cNvPr id="16" name="Oval 15"/>
          <p:cNvSpPr/>
          <p:nvPr/>
        </p:nvSpPr>
        <p:spPr>
          <a:xfrm>
            <a:off x="9555480" y="2926080"/>
            <a:ext cx="1005840" cy="1005840"/>
          </a:xfrm>
          <a:prstGeom prst="ellipse">
            <a:avLst/>
          </a:prstGeom>
          <a:solidFill>
            <a:srgbClr val="F5EFE7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/>
              <a:t>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0690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A1410"/>
                </a:solidFill>
                <a:latin typeface="Segoe UI"/>
              </a:rPr>
              <a:t>Ism Familiya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4348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64815"/>
                </a:solidFill>
                <a:latin typeface="Segoe UI"/>
              </a:rPr>
              <a:t>COO · Operatsiya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7548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6259"/>
                </a:solidFill>
                <a:latin typeface="Segoe UI"/>
              </a:rPr>
              <a:t>Restoran onboarding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52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89F94"/>
                </a:solidFill>
                <a:latin typeface="Segoe UI"/>
              </a:rPr>
              <a:t>Ismlar, rollar va tajribani o'zingiz to'ldirasiz — bu slayd shablon.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84848"/>
            <a:ext cx="9143771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029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5029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295" y="548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09 · Moliya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MOLIYAVIY PROGNOZ · TAXMINIY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A1410"/>
                </a:solidFill>
                <a:latin typeface="Segoe UI"/>
              </a:rPr>
              <a:t>3 yillik reja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Ko'rsatkich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788920"/>
            <a:ext cx="20756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1-yil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168" y="2788920"/>
            <a:ext cx="20756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2-yil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7736" y="2788920"/>
            <a:ext cx="206654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3-yil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19272"/>
            <a:ext cx="10789920" cy="10972"/>
          </a:xfrm>
          <a:prstGeom prst="rect">
            <a:avLst/>
          </a:prstGeom>
          <a:solidFill>
            <a:srgbClr val="CFC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92424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1410"/>
                </a:solidFill>
                <a:latin typeface="Segoe UI"/>
              </a:rPr>
              <a:t>Restoranlar (hamkor)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392424"/>
            <a:ext cx="20756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1410"/>
                </a:solidFill>
                <a:latin typeface="Segoe UI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8" y="3392424"/>
            <a:ext cx="20756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1410"/>
                </a:solidFill>
                <a:latin typeface="Segoe UI"/>
              </a:rPr>
              <a:t>1 500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17736" y="3392424"/>
            <a:ext cx="206654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1410"/>
                </a:solidFill>
                <a:latin typeface="Segoe UI"/>
              </a:rPr>
              <a:t>5 000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922776"/>
            <a:ext cx="10789920" cy="10972"/>
          </a:xfrm>
          <a:prstGeom prst="rect">
            <a:avLst/>
          </a:prstGeom>
          <a:solidFill>
            <a:srgbClr val="E4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95928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1410"/>
                </a:solidFill>
                <a:latin typeface="Segoe UI"/>
              </a:rPr>
              <a:t>Faol foydalanuvchi (oylik)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995928"/>
            <a:ext cx="20756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1410"/>
                </a:solidFill>
                <a:latin typeface="Segoe UI"/>
              </a:rPr>
              <a:t>25K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9168" y="3995928"/>
            <a:ext cx="20756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1410"/>
                </a:solidFill>
                <a:latin typeface="Segoe UI"/>
              </a:rPr>
              <a:t>150K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995928"/>
            <a:ext cx="206654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1410"/>
                </a:solidFill>
                <a:latin typeface="Segoe UI"/>
              </a:rPr>
              <a:t>600K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526280"/>
            <a:ext cx="10789920" cy="10972"/>
          </a:xfrm>
          <a:prstGeom prst="rect">
            <a:avLst/>
          </a:prstGeom>
          <a:solidFill>
            <a:srgbClr val="E4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99432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1410"/>
                </a:solidFill>
                <a:latin typeface="Segoe UI"/>
              </a:rPr>
              <a:t>Bron/zakaz (oylik)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4599432"/>
            <a:ext cx="20756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1410"/>
                </a:solidFill>
                <a:latin typeface="Segoe UI"/>
              </a:rPr>
              <a:t>15K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4599432"/>
            <a:ext cx="20756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1410"/>
                </a:solidFill>
                <a:latin typeface="Segoe UI"/>
              </a:rPr>
              <a:t>120K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4599432"/>
            <a:ext cx="206654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A1410"/>
                </a:solidFill>
                <a:latin typeface="Segoe UI"/>
              </a:rPr>
              <a:t>550K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129784"/>
            <a:ext cx="10789920" cy="10972"/>
          </a:xfrm>
          <a:prstGeom prst="rect">
            <a:avLst/>
          </a:prstGeom>
          <a:solidFill>
            <a:srgbClr val="E4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202936"/>
            <a:ext cx="3840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64815"/>
                </a:solidFill>
                <a:latin typeface="Segoe UI"/>
              </a:rPr>
              <a:t>Daromad (yillik)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5202936"/>
            <a:ext cx="20756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64815"/>
                </a:solidFill>
                <a:latin typeface="Segoe UI"/>
              </a:rPr>
              <a:t>$0.1M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9168" y="5202936"/>
            <a:ext cx="20756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64815"/>
                </a:solidFill>
                <a:latin typeface="Segoe UI"/>
              </a:rPr>
              <a:t>$1.2M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5202936"/>
            <a:ext cx="2066543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64815"/>
                </a:solidFill>
                <a:latin typeface="Segoe UI"/>
              </a:rPr>
              <a:t>$6M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733288"/>
            <a:ext cx="10789920" cy="10972"/>
          </a:xfrm>
          <a:prstGeom prst="rect">
            <a:avLst/>
          </a:prstGeom>
          <a:solidFill>
            <a:srgbClr val="E4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98932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A89F94"/>
                </a:solidFill>
                <a:latin typeface="Segoe UI"/>
              </a:rPr>
              <a:t>Barcha raqamlar taxminiy — real modelingizga moslashtiring. Toshkent → yirik shaharlar kengayishiga asoslangan.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84848"/>
            <a:ext cx="10159746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0292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502920"/>
            <a:ext cx="2743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48295" y="548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9F94"/>
                </a:solidFill>
                <a:latin typeface="Segoe UI"/>
              </a:rPr>
              <a:t>10 · Sarmoya so'rovi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140">
                <a:solidFill>
                  <a:srgbClr val="FF6B35"/>
                </a:solidFill>
                <a:latin typeface="Segoe UI"/>
              </a:rPr>
              <a:t>SARMOYA SO'ROVI · TAXMINIY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A1410"/>
                </a:solidFill>
                <a:latin typeface="Segoe UI"/>
              </a:rPr>
              <a:t>Seed raundni ochamiz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B6259"/>
                </a:solidFill>
                <a:latin typeface="Segoe UI"/>
              </a:rPr>
              <a:t>18 oylik yo'lni moliyalashtirish: backend + mijozlar, restoran onboarding, jamoa va Toshkentda ishga tushirish.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49039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6B35"/>
                </a:solidFill>
                <a:latin typeface="Segoe U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749039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A1410"/>
                </a:solidFill>
                <a:latin typeface="Segoe UI"/>
              </a:rPr>
              <a:t>45% — mahsulot &amp; muhandislik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97679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6B35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97679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A1410"/>
                </a:solidFill>
                <a:latin typeface="Segoe UI"/>
              </a:rPr>
              <a:t>30% — restoran onboarding (sales/ops)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46319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6B35"/>
                </a:solidFill>
                <a:latin typeface="Segoe U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846319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A1410"/>
                </a:solidFill>
                <a:latin typeface="Segoe UI"/>
              </a:rPr>
              <a:t>15% — marketing &amp; o'sish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394959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6B35"/>
                </a:solidFill>
                <a:latin typeface="Segoe U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394959"/>
            <a:ext cx="5120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A1410"/>
                </a:solidFill>
                <a:latin typeface="Segoe UI"/>
              </a:rPr>
              <a:t>10% — operatsiya &amp; zaxira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2743200"/>
            <a:ext cx="4160520" cy="3108960"/>
          </a:xfrm>
          <a:prstGeom prst="roundRect">
            <a:avLst>
              <a:gd name="adj" fmla="val 9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324612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spc="60">
                <a:solidFill>
                  <a:srgbClr val="FFE6D8"/>
                </a:solidFill>
                <a:latin typeface="Segoe UI"/>
              </a:rPr>
              <a:t>SO'RALAYOTGAN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03320"/>
            <a:ext cx="4160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>
                <a:solidFill>
                  <a:srgbClr val="FFFFFF"/>
                </a:solidFill>
                <a:latin typeface="Segoe UI"/>
              </a:rPr>
              <a:t>$500K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892040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FECE0"/>
                </a:solidFill>
                <a:latin typeface="Segoe UI"/>
              </a:rPr>
              <a:t>Seed · 18 oy runway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539496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FFE0CE"/>
                </a:solidFill>
                <a:latin typeface="Segoe UI"/>
              </a:rPr>
              <a:t>(raqam taxminiy — moslang)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84848"/>
            <a:ext cx="1117572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595360" y="-1097280"/>
            <a:ext cx="5029200" cy="3840480"/>
          </a:xfrm>
          <a:prstGeom prst="roundRect">
            <a:avLst>
              <a:gd name="adj" fmla="val 9000"/>
            </a:avLst>
          </a:prstGeom>
          <a:solidFill>
            <a:srgbClr val="FCE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1371600" y="4754880"/>
            <a:ext cx="5029200" cy="3657600"/>
          </a:xfrm>
          <a:prstGeom prst="roundRect">
            <a:avLst>
              <a:gd name="adj" fmla="val 9000"/>
            </a:avLst>
          </a:prstGeom>
          <a:solidFill>
            <a:srgbClr val="FCE4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37760" y="137160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</a:rPr>
              <a:t>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1417320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A1410"/>
                </a:solidFill>
                <a:latin typeface="Segoe UI"/>
              </a:rPr>
              <a:t>FoodGPT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68880"/>
            <a:ext cx="9418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410"/>
                </a:solidFill>
                <a:latin typeface="Segoe UI"/>
              </a:rPr>
              <a:t>Ovqat qaroriga AI hamroh.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410"/>
                </a:solidFill>
                <a:latin typeface="Segoe UI"/>
              </a:rPr>
              <a:t>O'zbekistondan boshlaymiz.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389120"/>
            <a:ext cx="7589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6B6259"/>
                </a:solidFill>
                <a:latin typeface="Segoe UI"/>
              </a:rPr>
              <a:t>Discovery + bron infratuzilmasini biz quramiz. Keling, birga.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6263" y="5212080"/>
            <a:ext cx="795528" cy="402336"/>
          </a:xfrm>
          <a:prstGeom prst="roundRect">
            <a:avLst>
              <a:gd name="adj" fmla="val 9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Rahmat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8095" y="5212080"/>
            <a:ext cx="1664208" cy="4023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6B6259"/>
                </a:solidFill>
                <a:latin typeface="Segoe UI"/>
              </a:rPr>
              <a:t>email@foodgpt.uz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18607" y="5212080"/>
            <a:ext cx="1229868" cy="4023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C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0" bIns="0"/>
          <a:lstStyle/>
          <a:p>
            <a:pPr algn="ctr"/>
            <a:r>
              <a:rPr sz="1100" b="1">
                <a:solidFill>
                  <a:srgbClr val="6B6259"/>
                </a:solidFill>
                <a:latin typeface="Segoe UI"/>
              </a:rPr>
              <a:t>@FoodGPTBot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