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-1097280"/>
            <a:ext cx="5029200" cy="3840480"/>
          </a:xfrm>
          <a:prstGeom prst="roundRect">
            <a:avLst>
              <a:gd name="adj" fmla="val 9000"/>
            </a:avLst>
          </a:prstGeom>
          <a:solidFill>
            <a:srgbClr val="FC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371600" y="4754880"/>
            <a:ext cx="5029200" cy="3657600"/>
          </a:xfrm>
          <a:prstGeom prst="roundRect">
            <a:avLst>
              <a:gd name="adj" fmla="val 9000"/>
            </a:avLst>
          </a:prstGeom>
          <a:solidFill>
            <a:srgbClr val="F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2588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86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PITCH DECK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9601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A1410"/>
                </a:solidFill>
                <a:latin typeface="Segoe UI"/>
              </a:rPr>
              <a:t>«Bugun nima yeyman?» —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A1410"/>
                </a:solidFill>
                <a:latin typeface="Segoe UI"/>
              </a:rPr>
              <a:t>bir savol, bir javob.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B6259"/>
                </a:solidFill>
                <a:latin typeface="Segoe UI"/>
              </a:rPr>
              <a:t>AI orqali yaqin, ochiq va sizga mos ovqatlanish joyini topadi — bron, navigatsiya, taxi bir oqimda. O'zbekiston uchun.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623560"/>
            <a:ext cx="4704588" cy="402336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Ovqatlanish joylari discovery + bron infratuzilmasi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92140" y="5623560"/>
            <a:ext cx="2185415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Toshkent · O'zbekiston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01 · Muammo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MUAMMO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A1410"/>
                </a:solidFill>
                <a:latin typeface="Segoe UI"/>
              </a:rPr>
              <a:t>Och qolganda — qayerda, nima, aynan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A1410"/>
                </a:solidFill>
                <a:latin typeface="Segoe UI"/>
              </a:rPr>
              <a:t>hozir tayyor? Hech kim bilmaydi.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342900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63931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18795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Platforma yo'q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645152"/>
            <a:ext cx="28803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O'zbekistonda barcha ovqatlanish joylarini birlashtirgan yagona joy yo'q. Odam Google Maps'ga kirib ovqat izlamaydi.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383280"/>
            <a:ext cx="342900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63931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18795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Vaqt yo'qoladi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645152"/>
            <a:ext cx="28803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Ochiqmi? Joy bormi? Narxi? Har birini alohida tekshirish — 10+ daqiqa telefon va guruhlarda.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383280"/>
            <a:ext cx="342900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363931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18795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Qaror og'ir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645152"/>
            <a:ext cx="28803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«Qayerga boramiz?» — kompaniya, budjet, kayfiyatga mos joyni tanlash doim bahs.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2031949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02 · Yechim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YECHIM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A1410"/>
                </a:solidFill>
                <a:latin typeface="Segoe UI"/>
              </a:rPr>
              <a:t>Tabiiy tilda so'rang — AI 30 soniyada hal qiladi.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5394960" cy="2011680"/>
          </a:xfrm>
          <a:prstGeom prst="roundRect">
            <a:avLst>
              <a:gd name="adj" fmla="val 9000"/>
            </a:avLst>
          </a:prstGeom>
          <a:solidFill>
            <a:srgbClr val="FFF7F0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259"/>
                </a:solidFill>
                <a:latin typeface="Segoe UI"/>
              </a:rPr>
              <a:t>Foydalanuvchi yozadi / gapiradi: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D64815"/>
                </a:solidFill>
                <a:latin typeface="Segoe UI"/>
              </a:rPr>
              <a:t>«200 ming budjetga oilaviy joy»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D64815"/>
                </a:solidFill>
                <a:latin typeface="Segoe UI"/>
              </a:rPr>
              <a:t>«Shashlik yemoqchiman»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834640"/>
            <a:ext cx="51206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10896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259"/>
                </a:solidFill>
                <a:latin typeface="Segoe UI"/>
              </a:rPr>
              <a:t>AI niyatni tushunadi (taom · budjet · kayfiyat · kompaniya · vaqt) → yaqin, ochiq, mos joylarni topadi → </a:t>
            </a:r>
            <a:r>
              <a:rPr sz="1300" b="1">
                <a:solidFill>
                  <a:srgbClr val="1A1410"/>
                </a:solidFill>
                <a:latin typeface="Segoe UI"/>
              </a:rPr>
              <a:t>bron · navigatsiya · taxi</a:t>
            </a:r>
            <a:r>
              <a:rPr sz="1300" b="0">
                <a:solidFill>
                  <a:srgbClr val="6B6259"/>
                </a:solidFill>
                <a:latin typeface="Segoe UI"/>
              </a:rPr>
              <a:t> bir oqimda.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12080"/>
            <a:ext cx="1490472" cy="402336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Matn yoki ovoz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5212080"/>
            <a:ext cx="1316736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uz · ru · 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6" y="5212080"/>
            <a:ext cx="1577340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Real-time holat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9260" y="5212080"/>
            <a:ext cx="1751076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Bron bir bosishda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6259"/>
                </a:solidFill>
                <a:latin typeface="Segoe UI"/>
              </a:rPr>
              <a:t>Barcha ovqatlanish joylari: </a:t>
            </a:r>
            <a:r>
              <a:rPr sz="1200" b="1">
                <a:solidFill>
                  <a:srgbClr val="1A1410"/>
                </a:solidFill>
                <a:latin typeface="Segoe UI"/>
              </a:rPr>
              <a:t>restoran · kafe · choyxona · milliy oshxona · fastfud · kabob/osh markazlari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3047923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03 · Nima uchun hozir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NIMA UCHUN AYNAN HOZIR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410"/>
                </a:solidFill>
                <a:latin typeface="Segoe UI"/>
              </a:rPr>
              <a:t>Bozor, texnologiya va odat — uchalasi bir vaqtda pishdi.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342900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4564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0050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Telegram dominant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462272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O'zbekistonda TG — asosiy super-ilova. Mini App orqali millionlab foydalanuvchiga bir bosishda kirish.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200400"/>
            <a:ext cx="342900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4564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0050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AI arzonlashdi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462272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Gemini kabi modellar tabiiy tilni uz/ru/en tushunadi — bir yil oldin bu narx/sifatda imkonsiz 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200400"/>
            <a:ext cx="342900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34564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0050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Digital odat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462272"/>
            <a:ext cx="28803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Payme/Click, online bron, taksi ilovalari — foydalanuvchi tayyor. Bo'shliq — ovqatda.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04 · Bozor hajmi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BOZOR HAJMI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410"/>
                </a:solidFill>
                <a:latin typeface="Segoe UI"/>
              </a:rPr>
              <a:t>O'sib borayotgan, hali egallanmagan bozor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6B35"/>
                </a:solidFill>
                <a:latin typeface="Segoe UI"/>
              </a:rPr>
              <a:t>$2.5B+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259"/>
                </a:solidFill>
                <a:latin typeface="Segoe UI"/>
              </a:rPr>
              <a:t>O'zbekiston ovqatlanish/HoReCa bozori (TAM) </a:t>
            </a:r>
            <a:r>
              <a:rPr sz="1100" b="1">
                <a:solidFill>
                  <a:srgbClr val="D64815"/>
                </a:solidFill>
                <a:latin typeface="Segoe UI"/>
              </a:rPr>
              <a:t>· taxminiy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01752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6B35"/>
                </a:solidFill>
                <a:latin typeface="Segoe UI"/>
              </a:rPr>
              <a:t>50K+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16052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259"/>
                </a:solidFill>
                <a:latin typeface="Segoe UI"/>
              </a:rPr>
              <a:t>Restoran, kafe, choyxona, oshxona, fastfud (SAM) </a:t>
            </a:r>
            <a:r>
              <a:rPr sz="1100" b="1">
                <a:solidFill>
                  <a:srgbClr val="D64815"/>
                </a:solidFill>
                <a:latin typeface="Segoe UI"/>
              </a:rPr>
              <a:t>· taxminiy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6B35"/>
                </a:solidFill>
                <a:latin typeface="Segoe UI"/>
              </a:rPr>
              <a:t>$40M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16052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259"/>
                </a:solidFill>
                <a:latin typeface="Segoe UI"/>
              </a:rPr>
              <a:t>3 yilda erishsa bo'ladigan (SOM) </a:t>
            </a:r>
            <a:r>
              <a:rPr sz="1100" b="1">
                <a:solidFill>
                  <a:srgbClr val="D64815"/>
                </a:solidFill>
                <a:latin typeface="Segoe UI"/>
              </a:rPr>
              <a:t>· taxminiy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259"/>
                </a:solidFill>
                <a:latin typeface="Segoe UI"/>
              </a:rPr>
              <a:t>O'zbekiston aholisi 37M+, o'rta sinf va tashqarida ovqatlanish tez o'smoqda. Toshkentda boshlaymiz → yirik shaharlarga (Samarqand, Buxoro, Farg'ona) kengayamiz.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5079873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05 · Raqobat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RAQOBAT VA BIZNING USTUNLIGIMIZ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410"/>
                </a:solidFill>
                <a:latin typeface="Segoe UI"/>
              </a:rPr>
              <a:t>Discovery + bron bo'shlig'ini hech kim to'ldirmagan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539496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259"/>
                </a:solidFill>
                <a:latin typeface="Segoe UI"/>
              </a:rPr>
              <a:t>Yandex Eats / Uzum Tezkor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1752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9F94"/>
                </a:solidFill>
                <a:latin typeface="Segoe UI"/>
              </a:rPr>
              <a:t>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493008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75887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259"/>
                </a:solidFill>
                <a:latin typeface="Segoe UI"/>
              </a:rPr>
              <a:t>Google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75887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9F94"/>
                </a:solidFill>
                <a:latin typeface="Segoe UI"/>
              </a:rPr>
              <a:t>Xarita, ovqat emas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151375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34255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259"/>
                </a:solidFill>
                <a:latin typeface="Segoe UI"/>
              </a:rPr>
              <a:t>Instagram / TG guruhlar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334255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9F94"/>
                </a:solidFill>
                <a:latin typeface="Segoe UI"/>
              </a:rPr>
              <a:t>Tartibsiz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809744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92623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64815"/>
                </a:solidFill>
                <a:latin typeface="Segoe UI"/>
              </a:rPr>
              <a:t>FoodGPT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992623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A855"/>
                </a:solidFill>
                <a:latin typeface="Segoe UI"/>
              </a:rPr>
              <a:t>AI + bron + real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468111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Bizning moat (himoya)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38328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Real-time ovqatlanish joyi data + bron infratuzilmasi (OpenTable yo'li)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2519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AI — eshik, data — uy. Ko'chirib bo'lmaydi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1206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Biz «yana bir delivery» EMASmiz — discovery bizniki, dastavka hamkor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6095847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06 · Mahsulot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MAHSULOT —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410"/>
                </a:solidFill>
                <a:latin typeface="Segoe UI"/>
              </a:rPr>
              <a:t>Lokatsiya → so'rov → tavsiya → amal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25146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41932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410"/>
                </a:solidFill>
                <a:latin typeface="Segoe UI"/>
              </a:rPr>
              <a:t>Lokatsiya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259"/>
                </a:solidFill>
                <a:latin typeface="Segoe UI"/>
              </a:rPr>
              <a:t>TG/geolokatsiya bilan koordinata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361188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017520"/>
            <a:ext cx="25146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6572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49039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410"/>
                </a:solidFill>
                <a:latin typeface="Segoe UI"/>
              </a:rPr>
              <a:t>So'rov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1605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259"/>
                </a:solidFill>
                <a:latin typeface="Segoe UI"/>
              </a:rPr>
              <a:t>Matn yoki ovoz — tabiiy 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61188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17520"/>
            <a:ext cx="25146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11211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410"/>
                </a:solidFill>
                <a:latin typeface="Segoe UI"/>
              </a:rPr>
              <a:t>AI + Geo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605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259"/>
                </a:solidFill>
                <a:latin typeface="Segoe UI"/>
              </a:rPr>
              <a:t>Niyat + yaqin, ochiq, mos joylar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361188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017520"/>
            <a:ext cx="25146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5852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749039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410"/>
                </a:solidFill>
                <a:latin typeface="Segoe UI"/>
              </a:rPr>
              <a:t>Amal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1605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6259"/>
                </a:solidFill>
                <a:latin typeface="Segoe UI"/>
              </a:rPr>
              <a:t>Bron · zakaz · navigatsiya · taxi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40680"/>
            <a:ext cx="1751076" cy="402336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Telegram Mini 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83180" y="5440680"/>
            <a:ext cx="534924" cy="402336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5440680"/>
            <a:ext cx="1056132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Gemini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6844" y="5440680"/>
            <a:ext cx="2532888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Voice (realtime + STT/TTS)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6036" y="5440680"/>
            <a:ext cx="1664208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Website ✅ tayyor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7111822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07 · Biznes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BIZNES MODEL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410"/>
                </a:solidFill>
                <a:latin typeface="Segoe UI"/>
              </a:rPr>
              <a:t>Gibrid: oylik obuna + komissiya. Foydalanuvchiga bepul.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429000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1821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675887"/>
            <a:ext cx="1600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410"/>
                </a:solidFill>
                <a:latin typeface="Segoe UI"/>
              </a:rPr>
              <a:t>Oylik obuna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712463"/>
            <a:ext cx="960120" cy="329184"/>
          </a:xfrm>
          <a:prstGeom prst="roundRect">
            <a:avLst>
              <a:gd name="adj" fmla="val 9000"/>
            </a:avLst>
          </a:prstGeom>
          <a:solidFill>
            <a:srgbClr val="FF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D64815"/>
                </a:solidFill>
                <a:latin typeface="Segoe UI"/>
              </a:rPr>
              <a:t>ASOSIY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16052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259"/>
                </a:solidFill>
                <a:latin typeface="Segoe UI"/>
              </a:rPr>
              <a:t>Har ovqatlanish joyi platformada bo'lish uchun oylik to'laydi. Tier $20–150/oy — ko'rinish, bron paneli, analitika. Barqaror daromad.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926080"/>
            <a:ext cx="3429000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18211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73075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Bron/zakaz komissiya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187952"/>
            <a:ext cx="288036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Har muvaffaqiyatli bron/zakaz uchun qo'shimcha 3–8%. Obuna ustiga tranzaksion oqim.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926080"/>
            <a:ext cx="3429000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318211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A1410"/>
                </a:solidFill>
                <a:latin typeface="Segoe U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73075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Data &amp; 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4187952"/>
            <a:ext cx="2880360" cy="1161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259"/>
                </a:solidFill>
                <a:latin typeface="Segoe UI"/>
              </a:rPr>
              <a:t>Keyin: POS integratsiya, talab analitikasi, reklama. Yuqori marjali kengayish qatlami.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6259"/>
                </a:solidFill>
                <a:latin typeface="Segoe UI"/>
              </a:rPr>
              <a:t>Barcha ovqatlanish joylari — restoran, kafe, choyxona, oshxona, fastfud. Dastavka — hamkor kuryer (Yandex/Uzum). </a:t>
            </a:r>
            <a:r>
              <a:rPr sz="1200" b="1">
                <a:solidFill>
                  <a:srgbClr val="1A1410"/>
                </a:solidFill>
                <a:latin typeface="Segoe UI"/>
              </a:rPr>
              <a:t>Zakaz + data bizda.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8127796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08 · Jamoa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JAMOA · TO'LDIRING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410"/>
                </a:solidFill>
                <a:latin typeface="Segoe UI"/>
              </a:rPr>
              <a:t>Mahsulot, texnologiya va bozorni biladigan jamoa</a:t>
            </a:r>
          </a:p>
        </p:txBody>
      </p:sp>
      <p:sp>
        <p:nvSpPr>
          <p:cNvPr id="8" name="Oval 7"/>
          <p:cNvSpPr/>
          <p:nvPr/>
        </p:nvSpPr>
        <p:spPr>
          <a:xfrm>
            <a:off x="2240280" y="2926080"/>
            <a:ext cx="1005840" cy="1005840"/>
          </a:xfrm>
          <a:prstGeom prst="ellipse">
            <a:avLst/>
          </a:prstGeom>
          <a:solidFill>
            <a:srgbClr val="F5EFE7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69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410"/>
                </a:solidFill>
                <a:latin typeface="Segoe UI"/>
              </a:rPr>
              <a:t>Ism Familiya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64815"/>
                </a:solidFill>
                <a:latin typeface="Segoe UI"/>
              </a:rPr>
              <a:t>Asoschi ·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259"/>
                </a:solidFill>
                <a:latin typeface="Segoe UI"/>
              </a:rPr>
              <a:t>Mahsulot &amp; strategiya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2926080"/>
            <a:ext cx="1005840" cy="1005840"/>
          </a:xfrm>
          <a:prstGeom prst="ellipse">
            <a:avLst/>
          </a:prstGeom>
          <a:solidFill>
            <a:srgbClr val="F5EFE7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069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410"/>
                </a:solidFill>
                <a:latin typeface="Segoe UI"/>
              </a:rPr>
              <a:t>Ism Familiya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434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64815"/>
                </a:solidFill>
                <a:latin typeface="Segoe UI"/>
              </a:rPr>
              <a:t>CTO · Muhandislik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259"/>
                </a:solidFill>
                <a:latin typeface="Segoe UI"/>
              </a:rPr>
              <a:t>AI · backend · mijozlar</a:t>
            </a:r>
          </a:p>
        </p:txBody>
      </p:sp>
      <p:sp>
        <p:nvSpPr>
          <p:cNvPr id="16" name="Oval 15"/>
          <p:cNvSpPr/>
          <p:nvPr/>
        </p:nvSpPr>
        <p:spPr>
          <a:xfrm>
            <a:off x="9555480" y="2926080"/>
            <a:ext cx="1005840" cy="1005840"/>
          </a:xfrm>
          <a:prstGeom prst="ellipse">
            <a:avLst/>
          </a:prstGeom>
          <a:solidFill>
            <a:srgbClr val="F5EFE7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069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410"/>
                </a:solidFill>
                <a:latin typeface="Segoe UI"/>
              </a:rPr>
              <a:t>Ism Familiya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434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64815"/>
                </a:solidFill>
                <a:latin typeface="Segoe UI"/>
              </a:rPr>
              <a:t>COO · Operatsiya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6259"/>
                </a:solidFill>
                <a:latin typeface="Segoe UI"/>
              </a:rPr>
              <a:t>Ovqatlanish joyi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A89F94"/>
                </a:solidFill>
                <a:latin typeface="Segoe UI"/>
              </a:rPr>
              <a:t>Ismlar, rollar va tajribani o'zingiz to'ldirasiz — bu slayd shablon.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9143771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09 · Moliya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MOLIYAVIY PROGNOZ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410"/>
                </a:solidFill>
                <a:latin typeface="Segoe UI"/>
              </a:rPr>
              <a:t>3 yillik reja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Ko'rsatkich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788920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1-yil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788920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2-yil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7736" y="2788920"/>
            <a:ext cx="20665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3-yil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19272"/>
            <a:ext cx="10789920" cy="10972"/>
          </a:xfrm>
          <a:prstGeom prst="rect">
            <a:avLst/>
          </a:prstGeom>
          <a:solidFill>
            <a:srgbClr val="CFC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92424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410"/>
                </a:solidFill>
                <a:latin typeface="Segoe UI"/>
              </a:rPr>
              <a:t>Ovqatlanish joylari (obuna)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392424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392424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1 500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3392424"/>
            <a:ext cx="20665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5 000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22776"/>
            <a:ext cx="1078992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95928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410"/>
                </a:solidFill>
                <a:latin typeface="Segoe UI"/>
              </a:rPr>
              <a:t>Faol foydalanuvchi (oylik)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995928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25K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95928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150K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3995928"/>
            <a:ext cx="20665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600K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526280"/>
            <a:ext cx="1078992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2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410"/>
                </a:solidFill>
                <a:latin typeface="Segoe UI"/>
              </a:rPr>
              <a:t>Bron/zakaz (oylik)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599432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15K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599432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120K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4599432"/>
            <a:ext cx="20665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550K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129784"/>
            <a:ext cx="1078992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02936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4815"/>
                </a:solidFill>
                <a:latin typeface="Segoe UI"/>
              </a:rPr>
              <a:t>Daromad (obuna+komissiya)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202936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4815"/>
                </a:solidFill>
                <a:latin typeface="Segoe UI"/>
              </a:rPr>
              <a:t>$0.15M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5202936"/>
            <a:ext cx="20756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4815"/>
                </a:solidFill>
                <a:latin typeface="Segoe UI"/>
              </a:rPr>
              <a:t>$1.6M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5202936"/>
            <a:ext cx="20665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4815"/>
                </a:solidFill>
                <a:latin typeface="Segoe UI"/>
              </a:rPr>
              <a:t>$8M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733288"/>
            <a:ext cx="1078992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A89F94"/>
                </a:solidFill>
                <a:latin typeface="Segoe UI"/>
              </a:rPr>
              <a:t>Barcha raqamlar taxminiy — real modelingizga moslashtiring. Toshkent → yirik shaharlar kengayishiga asoslangan.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0159746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89F94"/>
                </a:solidFill>
                <a:latin typeface="Segoe UI"/>
              </a:rPr>
              <a:t>10 · Sarmoya so'rovi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40">
                <a:solidFill>
                  <a:srgbClr val="FF6B35"/>
                </a:solidFill>
                <a:latin typeface="Segoe UI"/>
              </a:rPr>
              <a:t>SARMOYA SO'ROVI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410"/>
                </a:solidFill>
                <a:latin typeface="Segoe UI"/>
              </a:rPr>
              <a:t>Seed raundni ochamiz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6259"/>
                </a:solidFill>
                <a:latin typeface="Segoe UI"/>
              </a:rPr>
              <a:t>18 oylik yo'lni moliyalashtirish: backend + mijozlar, ovqatlanish joyi onboarding, jamoa va Toshkentda ishga tushirish.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49039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45% — mahsulot &amp; muhandislik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7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97679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30% — ovqatlanish joyi onboarding (sales/ops)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1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846319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15% — marketing &amp; o'sish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9495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394959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10% — operatsiya &amp; zaxira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743200"/>
            <a:ext cx="4160520" cy="3108960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24612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60">
                <a:solidFill>
                  <a:srgbClr val="FFE6D8"/>
                </a:solidFill>
                <a:latin typeface="Segoe UI"/>
              </a:rPr>
              <a:t>SO'RALAYOTGAN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03320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$500K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89204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ECE0"/>
                </a:solidFill>
                <a:latin typeface="Segoe UI"/>
              </a:rPr>
              <a:t>Seed · 18 oy runway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39496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E0CE"/>
                </a:solidFill>
                <a:latin typeface="Segoe UI"/>
              </a:rPr>
              <a:t>(raqam taxminiy — moslang)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117572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-1097280"/>
            <a:ext cx="5029200" cy="3840480"/>
          </a:xfrm>
          <a:prstGeom prst="roundRect">
            <a:avLst>
              <a:gd name="adj" fmla="val 9000"/>
            </a:avLst>
          </a:prstGeom>
          <a:solidFill>
            <a:srgbClr val="FC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371600" y="4754880"/>
            <a:ext cx="5029200" cy="3657600"/>
          </a:xfrm>
          <a:prstGeom prst="roundRect">
            <a:avLst>
              <a:gd name="adj" fmla="val 9000"/>
            </a:avLst>
          </a:prstGeom>
          <a:solidFill>
            <a:srgbClr val="F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0" y="13716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41732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418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1410"/>
                </a:solidFill>
                <a:latin typeface="Segoe UI"/>
              </a:rPr>
              <a:t>Ovqat qaroriga AI hamroh.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1410"/>
                </a:solidFill>
                <a:latin typeface="Segoe UI"/>
              </a:rPr>
              <a:t>O'zbekistondan boshlaymiz.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38912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B6259"/>
                </a:solidFill>
                <a:latin typeface="Segoe UI"/>
              </a:rPr>
              <a:t>Discovery + bron infratuzilmasini biz quramiz. Keling, birga.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6263" y="5212080"/>
            <a:ext cx="795528" cy="402336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Rahmat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8095" y="5212080"/>
            <a:ext cx="1664208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email@foodgpt.uz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8607" y="5212080"/>
            <a:ext cx="1229868" cy="4023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6B6259"/>
                </a:solidFill>
                <a:latin typeface="Segoe UI"/>
              </a:rPr>
              <a:t>@FoodGPTBot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