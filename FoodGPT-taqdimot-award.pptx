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4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03920" y="-1097280"/>
            <a:ext cx="5120640" cy="3931920"/>
          </a:xfrm>
          <a:prstGeom prst="roundRect">
            <a:avLst>
              <a:gd name="adj" fmla="val 9000"/>
            </a:avLst>
          </a:prstGeom>
          <a:solidFill>
            <a:srgbClr val="FC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463040" y="4663440"/>
            <a:ext cx="5120640" cy="3749039"/>
          </a:xfrm>
          <a:prstGeom prst="roundRect">
            <a:avLst>
              <a:gd name="adj" fmla="val 9000"/>
            </a:avLst>
          </a:prstGeom>
          <a:solidFill>
            <a:srgbClr val="F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22960" y="1234440"/>
            <a:ext cx="566928" cy="566928"/>
          </a:xfrm>
          <a:prstGeom prst="roundRect">
            <a:avLst>
              <a:gd name="adj" fmla="val 3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400">
                <a:solidFill>
                  <a:srgbClr val="FFFFFF"/>
                </a:solidFill>
              </a:rPr>
              <a:t>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280160"/>
            <a:ext cx="45720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A1410"/>
                </a:solidFill>
                <a:latin typeface="Segoe UI"/>
              </a:rPr>
              <a:t>FoodGPT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240280"/>
            <a:ext cx="5120640" cy="457200"/>
          </a:xfrm>
          <a:prstGeom prst="roundRect">
            <a:avLst>
              <a:gd name="adj" fmla="val 50000"/>
            </a:avLst>
          </a:prstGeom>
          <a:solidFill>
            <a:srgbClr val="F0EAE3"/>
          </a:solidFill>
          <a:ln w="12700">
            <a:solidFill>
              <a:srgbClr val="CFC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 smtClean="0">
                <a:solidFill>
                  <a:srgbClr val="5C5249"/>
                </a:solidFill>
                <a:latin typeface="Segoe UI"/>
              </a:rPr>
              <a:t>NOVA </a:t>
            </a:r>
            <a:r>
              <a:rPr lang="en-US" sz="1200" b="1" dirty="0" err="1" smtClean="0">
                <a:solidFill>
                  <a:srgbClr val="5C5249"/>
                </a:solidFill>
                <a:latin typeface="Segoe UI"/>
              </a:rPr>
              <a:t>jamoasi</a:t>
            </a:r>
            <a:endParaRPr sz="1200" b="1" dirty="0">
              <a:solidFill>
                <a:srgbClr val="5C5249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10058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1A1410"/>
                </a:solidFill>
                <a:latin typeface="Segoe UI"/>
              </a:rPr>
              <a:t>Ovqat qaroriga AI hamroh.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4160520"/>
            <a:ext cx="11188827" cy="31008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dirty="0">
                <a:solidFill>
                  <a:srgbClr val="5C5249"/>
                </a:solidFill>
                <a:latin typeface="Segoe UI"/>
              </a:rPr>
              <a:t>«</a:t>
            </a:r>
            <a:r>
              <a:rPr sz="1550" b="0" dirty="0" err="1">
                <a:solidFill>
                  <a:srgbClr val="5C5249"/>
                </a:solidFill>
                <a:latin typeface="Segoe UI"/>
              </a:rPr>
              <a:t>Bugun</a:t>
            </a:r>
            <a:r>
              <a:rPr sz="1550" b="0" dirty="0">
                <a:solidFill>
                  <a:srgbClr val="5C5249"/>
                </a:solidFill>
                <a:latin typeface="Segoe UI"/>
              </a:rPr>
              <a:t> </a:t>
            </a:r>
            <a:r>
              <a:rPr sz="1550" b="0" dirty="0" err="1">
                <a:solidFill>
                  <a:srgbClr val="5C5249"/>
                </a:solidFill>
                <a:latin typeface="Segoe UI"/>
              </a:rPr>
              <a:t>nima</a:t>
            </a:r>
            <a:r>
              <a:rPr sz="1550" b="0" dirty="0">
                <a:solidFill>
                  <a:srgbClr val="5C5249"/>
                </a:solidFill>
                <a:latin typeface="Segoe UI"/>
              </a:rPr>
              <a:t> </a:t>
            </a:r>
            <a:r>
              <a:rPr sz="1550" b="0" dirty="0" err="1">
                <a:solidFill>
                  <a:srgbClr val="5C5249"/>
                </a:solidFill>
                <a:latin typeface="Segoe UI"/>
              </a:rPr>
              <a:t>yeyman</a:t>
            </a:r>
            <a:r>
              <a:rPr sz="1550" b="0" dirty="0">
                <a:solidFill>
                  <a:srgbClr val="5C5249"/>
                </a:solidFill>
                <a:latin typeface="Segoe UI"/>
              </a:rPr>
              <a:t>?» — </a:t>
            </a:r>
            <a:r>
              <a:rPr sz="1550" b="0" dirty="0" err="1">
                <a:solidFill>
                  <a:srgbClr val="5C5249"/>
                </a:solidFill>
                <a:latin typeface="Segoe UI"/>
              </a:rPr>
              <a:t>bir</a:t>
            </a:r>
            <a:r>
              <a:rPr sz="1550" b="0" dirty="0">
                <a:solidFill>
                  <a:srgbClr val="5C5249"/>
                </a:solidFill>
                <a:latin typeface="Segoe UI"/>
              </a:rPr>
              <a:t> </a:t>
            </a:r>
            <a:r>
              <a:rPr sz="1550" b="0" dirty="0" err="1">
                <a:solidFill>
                  <a:srgbClr val="5C5249"/>
                </a:solidFill>
                <a:latin typeface="Segoe UI"/>
              </a:rPr>
              <a:t>savol</a:t>
            </a:r>
            <a:r>
              <a:rPr sz="1550" b="0" dirty="0">
                <a:solidFill>
                  <a:srgbClr val="5C5249"/>
                </a:solidFill>
                <a:latin typeface="Segoe UI"/>
              </a:rPr>
              <a:t>, </a:t>
            </a:r>
            <a:r>
              <a:rPr sz="1550" b="0" dirty="0" err="1">
                <a:solidFill>
                  <a:srgbClr val="5C5249"/>
                </a:solidFill>
                <a:latin typeface="Segoe UI"/>
              </a:rPr>
              <a:t>bir</a:t>
            </a:r>
            <a:r>
              <a:rPr sz="1550" b="0" dirty="0">
                <a:solidFill>
                  <a:srgbClr val="5C5249"/>
                </a:solidFill>
                <a:latin typeface="Segoe UI"/>
              </a:rPr>
              <a:t> </a:t>
            </a:r>
            <a:r>
              <a:rPr sz="1550" b="0" dirty="0" err="1">
                <a:solidFill>
                  <a:srgbClr val="5C5249"/>
                </a:solidFill>
                <a:latin typeface="Segoe UI"/>
              </a:rPr>
              <a:t>javob</a:t>
            </a:r>
            <a:r>
              <a:rPr sz="1550" b="0" dirty="0">
                <a:solidFill>
                  <a:srgbClr val="5C5249"/>
                </a:solidFill>
                <a:latin typeface="Segoe UI"/>
              </a:rPr>
              <a:t>. </a:t>
            </a:r>
            <a:r>
              <a:rPr sz="1550" b="0" dirty="0" err="1">
                <a:solidFill>
                  <a:srgbClr val="5C5249"/>
                </a:solidFill>
                <a:latin typeface="Segoe UI"/>
              </a:rPr>
              <a:t>O'zbekiston</a:t>
            </a:r>
            <a:r>
              <a:rPr sz="1550" b="0" dirty="0">
                <a:solidFill>
                  <a:srgbClr val="5C5249"/>
                </a:solidFill>
                <a:latin typeface="Segoe UI"/>
              </a:rPr>
              <a:t> </a:t>
            </a:r>
            <a:r>
              <a:rPr sz="1550" b="0" dirty="0" err="1">
                <a:solidFill>
                  <a:srgbClr val="5C5249"/>
                </a:solidFill>
                <a:latin typeface="Segoe UI"/>
              </a:rPr>
              <a:t>uchun</a:t>
            </a:r>
            <a:r>
              <a:rPr sz="1550" b="0" dirty="0">
                <a:solidFill>
                  <a:srgbClr val="5C5249"/>
                </a:solidFill>
                <a:latin typeface="Segoe UI"/>
              </a:rPr>
              <a:t> AI discovery + </a:t>
            </a:r>
            <a:r>
              <a:rPr sz="1550" b="0" dirty="0" err="1">
                <a:solidFill>
                  <a:srgbClr val="5C5249"/>
                </a:solidFill>
                <a:latin typeface="Segoe UI"/>
              </a:rPr>
              <a:t>bron</a:t>
            </a:r>
            <a:r>
              <a:rPr sz="1550" b="0" dirty="0">
                <a:solidFill>
                  <a:srgbClr val="5C5249"/>
                </a:solidFill>
                <a:latin typeface="Segoe UI"/>
              </a:rPr>
              <a:t> </a:t>
            </a:r>
            <a:r>
              <a:rPr sz="1550" b="0" dirty="0" err="1" smtClean="0">
                <a:solidFill>
                  <a:srgbClr val="5C5249"/>
                </a:solidFill>
                <a:latin typeface="Segoe UI"/>
              </a:rPr>
              <a:t>platformasi</a:t>
            </a:r>
            <a:r>
              <a:rPr lang="en-US" sz="1550" b="0" dirty="0" smtClean="0">
                <a:solidFill>
                  <a:srgbClr val="5C5249"/>
                </a:solidFill>
                <a:latin typeface="Segoe UI"/>
              </a:rPr>
              <a:t>(</a:t>
            </a:r>
            <a:r>
              <a:rPr lang="en-US" sz="1550" b="0" dirty="0" err="1" smtClean="0">
                <a:solidFill>
                  <a:srgbClr val="5C5249"/>
                </a:solidFill>
                <a:latin typeface="Segoe UI"/>
              </a:rPr>
              <a:t>ovqatlanish</a:t>
            </a:r>
            <a:r>
              <a:rPr lang="en-US" sz="1550" b="0" dirty="0" smtClean="0">
                <a:solidFill>
                  <a:srgbClr val="5C5249"/>
                </a:solidFill>
                <a:latin typeface="Segoe UI"/>
              </a:rPr>
              <a:t> </a:t>
            </a:r>
            <a:r>
              <a:rPr lang="en-US" sz="1550" b="0" dirty="0" err="1" smtClean="0">
                <a:solidFill>
                  <a:srgbClr val="5C5249"/>
                </a:solidFill>
                <a:latin typeface="Segoe UI"/>
              </a:rPr>
              <a:t>joylari</a:t>
            </a:r>
            <a:r>
              <a:rPr lang="en-US" sz="1550" b="0" dirty="0" smtClean="0">
                <a:solidFill>
                  <a:srgbClr val="5C5249"/>
                </a:solidFill>
                <a:latin typeface="Segoe UI"/>
              </a:rPr>
              <a:t> </a:t>
            </a:r>
            <a:r>
              <a:rPr lang="en-US" sz="1550" b="0" dirty="0" err="1" smtClean="0">
                <a:solidFill>
                  <a:srgbClr val="5C5249"/>
                </a:solidFill>
                <a:latin typeface="Segoe UI"/>
              </a:rPr>
              <a:t>uchun</a:t>
            </a:r>
            <a:r>
              <a:rPr lang="en-US" sz="1550" b="0" dirty="0" smtClean="0">
                <a:solidFill>
                  <a:srgbClr val="5C5249"/>
                </a:solidFill>
                <a:latin typeface="Segoe UI"/>
              </a:rPr>
              <a:t> )</a:t>
            </a:r>
            <a:r>
              <a:rPr sz="1550" b="0" dirty="0" smtClean="0">
                <a:solidFill>
                  <a:srgbClr val="5C5249"/>
                </a:solidFill>
                <a:latin typeface="Segoe UI"/>
              </a:rPr>
              <a:t>.</a:t>
            </a:r>
            <a:endParaRPr sz="1550" b="0" dirty="0">
              <a:solidFill>
                <a:srgbClr val="5C5249"/>
              </a:solidFill>
              <a:latin typeface="Segoe U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41248" y="5394960"/>
            <a:ext cx="1719986" cy="402336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Telegram-birinchi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07538" y="5394960"/>
            <a:ext cx="1975103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/>
            <a:r>
              <a:rPr lang="en-US" sz="1100" b="1" dirty="0" smtClean="0">
                <a:solidFill>
                  <a:srgbClr val="5C5249"/>
                </a:solidFill>
                <a:latin typeface="Segoe UI"/>
              </a:rPr>
              <a:t>PWA (Mobil </a:t>
            </a:r>
            <a:r>
              <a:rPr lang="en-US" sz="1100" b="1" dirty="0" err="1" smtClean="0">
                <a:solidFill>
                  <a:srgbClr val="5C5249"/>
                </a:solidFill>
                <a:latin typeface="Segoe UI"/>
              </a:rPr>
              <a:t>ilova</a:t>
            </a:r>
            <a:r>
              <a:rPr lang="en-US" sz="1100" b="1" dirty="0" smtClean="0">
                <a:solidFill>
                  <a:srgbClr val="5C5249"/>
                </a:solidFill>
                <a:latin typeface="Segoe UI"/>
              </a:rPr>
              <a:t> )</a:t>
            </a:r>
            <a:endParaRPr lang="en-US" sz="1100" b="1" dirty="0">
              <a:solidFill>
                <a:srgbClr val="5C5249"/>
              </a:solidFill>
              <a:latin typeface="Segoe U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828946" y="5394960"/>
            <a:ext cx="1975103" cy="402336"/>
          </a:xfrm>
          <a:prstGeom prst="roundRect">
            <a:avLst>
              <a:gd name="adj" fmla="val 50000"/>
            </a:avLst>
          </a:prstGeom>
          <a:solidFill>
            <a:srgbClr val="E4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/>
            <a:r>
              <a:rPr lang="en-US" sz="1100" b="1" dirty="0" err="1">
                <a:solidFill>
                  <a:srgbClr val="1FA855"/>
                </a:solidFill>
                <a:latin typeface="Segoe UI"/>
              </a:rPr>
              <a:t>Tillar</a:t>
            </a:r>
            <a:r>
              <a:rPr lang="en-US" sz="1100" b="1" dirty="0">
                <a:solidFill>
                  <a:srgbClr val="1FA855"/>
                </a:solidFill>
                <a:latin typeface="Segoe UI"/>
              </a:rPr>
              <a:t> · </a:t>
            </a:r>
            <a:r>
              <a:rPr lang="en-US" sz="1100" b="1" dirty="0" err="1">
                <a:solidFill>
                  <a:srgbClr val="1FA855"/>
                </a:solidFill>
                <a:latin typeface="Segoe UI"/>
              </a:rPr>
              <a:t>uz</a:t>
            </a:r>
            <a:r>
              <a:rPr lang="en-US" sz="1100" b="1" dirty="0">
                <a:solidFill>
                  <a:srgbClr val="1FA855"/>
                </a:solidFill>
                <a:latin typeface="Segoe UI"/>
              </a:rPr>
              <a:t>/</a:t>
            </a:r>
            <a:r>
              <a:rPr lang="en-US" sz="1100" b="1" dirty="0" err="1">
                <a:solidFill>
                  <a:srgbClr val="1FA855"/>
                </a:solidFill>
                <a:latin typeface="Segoe UI"/>
              </a:rPr>
              <a:t>ru</a:t>
            </a:r>
            <a:r>
              <a:rPr lang="en-US" sz="1100" b="1" dirty="0">
                <a:solidFill>
                  <a:srgbClr val="1FA855"/>
                </a:solidFill>
                <a:latin typeface="Segoe UI"/>
              </a:rPr>
              <a:t>/</a:t>
            </a:r>
            <a:r>
              <a:rPr lang="en-US" sz="1100" b="1" dirty="0" err="1">
                <a:solidFill>
                  <a:srgbClr val="1FA855"/>
                </a:solidFill>
                <a:latin typeface="Segoe UI"/>
              </a:rPr>
              <a:t>en</a:t>
            </a:r>
            <a:endParaRPr lang="en-US" sz="1100" b="1" dirty="0">
              <a:solidFill>
                <a:srgbClr val="1FA855"/>
              </a:solidFill>
              <a:latin typeface="Segoe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50292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50292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410"/>
                </a:solidFill>
                <a:latin typeface="Segoe UI"/>
              </a:rPr>
              <a:t>FoodGPT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48295" y="5486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A9086"/>
                </a:solidFill>
                <a:latin typeface="Segoe UI"/>
              </a:rPr>
              <a:t>01 · Muammo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spc="150">
                <a:solidFill>
                  <a:srgbClr val="FF6B35"/>
                </a:solidFill>
                <a:latin typeface="Segoe UI"/>
              </a:rPr>
              <a:t>MUAMMO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A1410"/>
                </a:solidFill>
                <a:latin typeface="Segoe UI"/>
              </a:rPr>
              <a:t>Och qolganda — qayerda, nima, aynan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A1410"/>
                </a:solidFill>
                <a:latin typeface="Segoe UI"/>
              </a:rPr>
              <a:t>hozir tayyor? Hech kim bilmaydi.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383280"/>
            <a:ext cx="3429000" cy="2651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3639312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0">
                <a:solidFill>
                  <a:srgbClr val="1A1410"/>
                </a:solidFill>
                <a:latin typeface="Segoe UI"/>
              </a:rPr>
              <a:t>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4169664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410"/>
                </a:solidFill>
                <a:latin typeface="Segoe UI"/>
              </a:rPr>
              <a:t>Platforma yo'q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4626864"/>
            <a:ext cx="2880360" cy="59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dirty="0" err="1">
                <a:solidFill>
                  <a:srgbClr val="5C5249"/>
                </a:solidFill>
                <a:latin typeface="Segoe UI"/>
              </a:rPr>
              <a:t>Barcha</a:t>
            </a:r>
            <a:r>
              <a:rPr sz="1150" b="0" dirty="0">
                <a:solidFill>
                  <a:srgbClr val="5C5249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C5249"/>
                </a:solidFill>
                <a:latin typeface="Segoe UI"/>
              </a:rPr>
              <a:t>ovqatlanish</a:t>
            </a:r>
            <a:r>
              <a:rPr sz="1150" b="0" dirty="0">
                <a:solidFill>
                  <a:srgbClr val="5C5249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C5249"/>
                </a:solidFill>
                <a:latin typeface="Segoe UI"/>
              </a:rPr>
              <a:t>joylarini</a:t>
            </a:r>
            <a:r>
              <a:rPr sz="1150" b="0" dirty="0">
                <a:solidFill>
                  <a:srgbClr val="5C5249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C5249"/>
                </a:solidFill>
                <a:latin typeface="Segoe UI"/>
              </a:rPr>
              <a:t>birlashtirgan</a:t>
            </a:r>
            <a:r>
              <a:rPr sz="1150" b="0" dirty="0">
                <a:solidFill>
                  <a:srgbClr val="5C5249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C5249"/>
                </a:solidFill>
                <a:latin typeface="Segoe UI"/>
              </a:rPr>
              <a:t>yagona</a:t>
            </a:r>
            <a:r>
              <a:rPr sz="1150" b="0" dirty="0">
                <a:solidFill>
                  <a:srgbClr val="5C5249"/>
                </a:solidFill>
                <a:latin typeface="Segoe UI"/>
              </a:rPr>
              <a:t> joy </a:t>
            </a:r>
            <a:r>
              <a:rPr sz="1150" b="0" dirty="0" err="1">
                <a:solidFill>
                  <a:srgbClr val="5C5249"/>
                </a:solidFill>
                <a:latin typeface="Segoe UI"/>
              </a:rPr>
              <a:t>yo'q</a:t>
            </a:r>
            <a:r>
              <a:rPr sz="1150" b="0" dirty="0">
                <a:solidFill>
                  <a:srgbClr val="5C5249"/>
                </a:solidFill>
                <a:latin typeface="Segoe UI"/>
              </a:rPr>
              <a:t>. </a:t>
            </a:r>
            <a:r>
              <a:rPr sz="1150" b="0" dirty="0" err="1">
                <a:solidFill>
                  <a:srgbClr val="5C5249"/>
                </a:solidFill>
                <a:latin typeface="Segoe UI"/>
              </a:rPr>
              <a:t>Odam</a:t>
            </a:r>
            <a:r>
              <a:rPr sz="1150" b="0" dirty="0">
                <a:solidFill>
                  <a:srgbClr val="5C5249"/>
                </a:solidFill>
                <a:latin typeface="Segoe UI"/>
              </a:rPr>
              <a:t> Google </a:t>
            </a:r>
            <a:r>
              <a:rPr sz="1150" b="0" dirty="0" err="1">
                <a:solidFill>
                  <a:srgbClr val="5C5249"/>
                </a:solidFill>
                <a:latin typeface="Segoe UI"/>
              </a:rPr>
              <a:t>Maps'da</a:t>
            </a:r>
            <a:r>
              <a:rPr sz="1150" b="0" dirty="0">
                <a:solidFill>
                  <a:srgbClr val="5C5249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C5249"/>
                </a:solidFill>
                <a:latin typeface="Segoe UI"/>
              </a:rPr>
              <a:t>ovqat</a:t>
            </a:r>
            <a:r>
              <a:rPr sz="1150" b="0" dirty="0">
                <a:solidFill>
                  <a:srgbClr val="5C5249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C5249"/>
                </a:solidFill>
                <a:latin typeface="Segoe UI"/>
              </a:rPr>
              <a:t>izlamaydi</a:t>
            </a:r>
            <a:r>
              <a:rPr sz="1150" b="0" dirty="0" smtClean="0">
                <a:solidFill>
                  <a:srgbClr val="5C5249"/>
                </a:solidFill>
                <a:latin typeface="Segoe UI"/>
              </a:rPr>
              <a:t>.</a:t>
            </a:r>
            <a:endParaRPr sz="1150" b="0" dirty="0">
              <a:solidFill>
                <a:srgbClr val="5C5249"/>
              </a:solidFill>
              <a:latin typeface="Segoe UI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434840" y="3383280"/>
            <a:ext cx="3429000" cy="2651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3639312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0">
                <a:solidFill>
                  <a:srgbClr val="1A1410"/>
                </a:solidFill>
                <a:latin typeface="Segoe UI"/>
              </a:rPr>
              <a:t>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4169664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410"/>
                </a:solidFill>
                <a:latin typeface="Segoe UI"/>
              </a:rPr>
              <a:t>Vaqt ketadi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4626864"/>
            <a:ext cx="2880360" cy="8140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150" b="0" dirty="0" err="1">
                <a:solidFill>
                  <a:srgbClr val="5C5249"/>
                </a:solidFill>
                <a:latin typeface="Segoe UI"/>
              </a:rPr>
              <a:t>Ochiqmi</a:t>
            </a:r>
            <a:r>
              <a:rPr sz="1150" b="0" dirty="0">
                <a:solidFill>
                  <a:srgbClr val="5C5249"/>
                </a:solidFill>
                <a:latin typeface="Segoe UI"/>
              </a:rPr>
              <a:t>? Joy </a:t>
            </a:r>
            <a:r>
              <a:rPr sz="1150" b="0" dirty="0" err="1">
                <a:solidFill>
                  <a:srgbClr val="5C5249"/>
                </a:solidFill>
                <a:latin typeface="Segoe UI"/>
              </a:rPr>
              <a:t>bormi</a:t>
            </a:r>
            <a:r>
              <a:rPr sz="1150" b="0" dirty="0">
                <a:solidFill>
                  <a:srgbClr val="5C5249"/>
                </a:solidFill>
                <a:latin typeface="Segoe UI"/>
              </a:rPr>
              <a:t>? </a:t>
            </a:r>
            <a:r>
              <a:rPr sz="1150" b="0" dirty="0" err="1">
                <a:solidFill>
                  <a:srgbClr val="5C5249"/>
                </a:solidFill>
                <a:latin typeface="Segoe UI"/>
              </a:rPr>
              <a:t>Narxi</a:t>
            </a:r>
            <a:r>
              <a:rPr sz="1150" b="0" dirty="0">
                <a:solidFill>
                  <a:srgbClr val="5C5249"/>
                </a:solidFill>
                <a:latin typeface="Segoe UI"/>
              </a:rPr>
              <a:t>? </a:t>
            </a:r>
            <a:r>
              <a:rPr sz="1150" b="0" dirty="0" err="1">
                <a:solidFill>
                  <a:srgbClr val="5C5249"/>
                </a:solidFill>
                <a:latin typeface="Segoe UI"/>
              </a:rPr>
              <a:t>Har</a:t>
            </a:r>
            <a:r>
              <a:rPr sz="1150" b="0" dirty="0">
                <a:solidFill>
                  <a:srgbClr val="5C5249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C5249"/>
                </a:solidFill>
                <a:latin typeface="Segoe UI"/>
              </a:rPr>
              <a:t>birini</a:t>
            </a:r>
            <a:r>
              <a:rPr sz="1150" b="0" dirty="0">
                <a:solidFill>
                  <a:srgbClr val="5C5249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C5249"/>
                </a:solidFill>
                <a:latin typeface="Segoe UI"/>
              </a:rPr>
              <a:t>alohida</a:t>
            </a:r>
            <a:r>
              <a:rPr sz="1150" b="0" dirty="0">
                <a:solidFill>
                  <a:srgbClr val="5C5249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C5249"/>
                </a:solidFill>
                <a:latin typeface="Segoe UI"/>
              </a:rPr>
              <a:t>tekshirish</a:t>
            </a:r>
            <a:r>
              <a:rPr sz="1150" b="0" dirty="0">
                <a:solidFill>
                  <a:srgbClr val="5C5249"/>
                </a:solidFill>
                <a:latin typeface="Segoe UI"/>
              </a:rPr>
              <a:t> — </a:t>
            </a:r>
            <a:r>
              <a:rPr sz="1150" b="0" dirty="0" err="1">
                <a:solidFill>
                  <a:srgbClr val="5C5249"/>
                </a:solidFill>
                <a:latin typeface="Segoe UI"/>
              </a:rPr>
              <a:t>telefon</a:t>
            </a:r>
            <a:r>
              <a:rPr sz="1150" b="0" dirty="0">
                <a:solidFill>
                  <a:srgbClr val="5C5249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C5249"/>
                </a:solidFill>
                <a:latin typeface="Segoe UI"/>
              </a:rPr>
              <a:t>va</a:t>
            </a:r>
            <a:r>
              <a:rPr sz="1150" b="0" dirty="0">
                <a:solidFill>
                  <a:srgbClr val="5C5249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C5249"/>
                </a:solidFill>
                <a:latin typeface="Segoe UI"/>
              </a:rPr>
              <a:t>guruhlarda</a:t>
            </a:r>
            <a:r>
              <a:rPr sz="1150" b="0" dirty="0">
                <a:solidFill>
                  <a:srgbClr val="5C5249"/>
                </a:solidFill>
                <a:latin typeface="Segoe UI"/>
              </a:rPr>
              <a:t> 10+ </a:t>
            </a:r>
            <a:r>
              <a:rPr sz="1150" b="0" dirty="0" err="1">
                <a:solidFill>
                  <a:srgbClr val="5C5249"/>
                </a:solidFill>
                <a:latin typeface="Segoe UI"/>
              </a:rPr>
              <a:t>daqiqa</a:t>
            </a:r>
            <a:r>
              <a:rPr sz="1150" b="0" dirty="0" smtClean="0">
                <a:solidFill>
                  <a:srgbClr val="5C5249"/>
                </a:solidFill>
                <a:latin typeface="Segoe UI"/>
              </a:rPr>
              <a:t>.</a:t>
            </a:r>
            <a:r>
              <a:rPr lang="en-US" sz="1150" dirty="0">
                <a:solidFill>
                  <a:srgbClr val="5C5249"/>
                </a:solidFill>
                <a:latin typeface="Segoe UI"/>
              </a:rPr>
              <a:t> </a:t>
            </a:r>
            <a:r>
              <a:rPr lang="en-US" sz="1150" dirty="0" err="1">
                <a:solidFill>
                  <a:srgbClr val="5C5249"/>
                </a:solidFill>
                <a:latin typeface="Segoe UI"/>
              </a:rPr>
              <a:t>Ijtimoiy</a:t>
            </a:r>
            <a:r>
              <a:rPr lang="en-US" sz="1150" dirty="0">
                <a:solidFill>
                  <a:srgbClr val="5C5249"/>
                </a:solidFill>
                <a:latin typeface="Segoe UI"/>
              </a:rPr>
              <a:t> </a:t>
            </a:r>
            <a:r>
              <a:rPr lang="en-US" sz="1150" dirty="0" err="1">
                <a:solidFill>
                  <a:srgbClr val="5C5249"/>
                </a:solidFill>
                <a:latin typeface="Segoe UI"/>
              </a:rPr>
              <a:t>tarmoqlar</a:t>
            </a:r>
            <a:r>
              <a:rPr lang="en-US" sz="1150" dirty="0">
                <a:solidFill>
                  <a:srgbClr val="5C5249"/>
                </a:solidFill>
                <a:latin typeface="Segoe UI"/>
              </a:rPr>
              <a:t>(Instagram </a:t>
            </a:r>
            <a:r>
              <a:rPr lang="en-US" sz="1150" dirty="0" err="1" smtClean="0">
                <a:solidFill>
                  <a:srgbClr val="5C5249"/>
                </a:solidFill>
                <a:latin typeface="Segoe UI"/>
              </a:rPr>
              <a:t>va</a:t>
            </a:r>
            <a:r>
              <a:rPr lang="en-US" sz="1150" dirty="0" smtClean="0">
                <a:solidFill>
                  <a:srgbClr val="5C5249"/>
                </a:solidFill>
                <a:latin typeface="Segoe UI"/>
              </a:rPr>
              <a:t> </a:t>
            </a:r>
            <a:r>
              <a:rPr lang="en-US" sz="1150" dirty="0" err="1" smtClean="0">
                <a:solidFill>
                  <a:srgbClr val="5C5249"/>
                </a:solidFill>
                <a:latin typeface="Segoe UI"/>
              </a:rPr>
              <a:t>boshqalardan</a:t>
            </a:r>
            <a:r>
              <a:rPr lang="en-US" sz="1150" dirty="0" smtClean="0">
                <a:solidFill>
                  <a:srgbClr val="5C5249"/>
                </a:solidFill>
                <a:latin typeface="Segoe UI"/>
              </a:rPr>
              <a:t> </a:t>
            </a:r>
            <a:r>
              <a:rPr lang="en-US" sz="1150" dirty="0" err="1" smtClean="0">
                <a:solidFill>
                  <a:srgbClr val="5C5249"/>
                </a:solidFill>
                <a:latin typeface="Segoe UI"/>
              </a:rPr>
              <a:t>izlashga</a:t>
            </a:r>
            <a:r>
              <a:rPr lang="en-US" sz="1150" dirty="0" smtClean="0">
                <a:solidFill>
                  <a:srgbClr val="5C5249"/>
                </a:solidFill>
                <a:latin typeface="Segoe UI"/>
              </a:rPr>
              <a:t> </a:t>
            </a:r>
            <a:r>
              <a:rPr lang="en-US" sz="1150" dirty="0" err="1" smtClean="0">
                <a:solidFill>
                  <a:srgbClr val="5C5249"/>
                </a:solidFill>
                <a:latin typeface="Segoe UI"/>
              </a:rPr>
              <a:t>ko’p</a:t>
            </a:r>
            <a:r>
              <a:rPr lang="en-US" sz="1150" dirty="0" smtClean="0">
                <a:solidFill>
                  <a:srgbClr val="5C5249"/>
                </a:solidFill>
                <a:latin typeface="Segoe UI"/>
              </a:rPr>
              <a:t> </a:t>
            </a:r>
            <a:r>
              <a:rPr lang="en-US" sz="1150" dirty="0" err="1" smtClean="0">
                <a:solidFill>
                  <a:srgbClr val="5C5249"/>
                </a:solidFill>
                <a:latin typeface="Segoe UI"/>
              </a:rPr>
              <a:t>vaqt</a:t>
            </a:r>
            <a:r>
              <a:rPr lang="en-US" sz="1150" dirty="0" smtClean="0">
                <a:solidFill>
                  <a:srgbClr val="5C5249"/>
                </a:solidFill>
                <a:latin typeface="Segoe UI"/>
              </a:rPr>
              <a:t>)</a:t>
            </a:r>
            <a:endParaRPr sz="1150" b="0" dirty="0">
              <a:solidFill>
                <a:srgbClr val="5C5249"/>
              </a:solidFill>
              <a:latin typeface="Segoe U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183879" y="3383280"/>
            <a:ext cx="3429000" cy="26517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76488" y="3639312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0">
                <a:solidFill>
                  <a:srgbClr val="1A1410"/>
                </a:solidFill>
                <a:latin typeface="Segoe UI"/>
              </a:rPr>
              <a:t>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4169664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410"/>
                </a:solidFill>
                <a:latin typeface="Segoe UI"/>
              </a:rPr>
              <a:t>Qaror og'ir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4626864"/>
            <a:ext cx="2880360" cy="1243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dirty="0" err="1">
                <a:solidFill>
                  <a:srgbClr val="5C5249"/>
                </a:solidFill>
                <a:latin typeface="Segoe UI"/>
              </a:rPr>
              <a:t>Kompaniya</a:t>
            </a:r>
            <a:r>
              <a:rPr sz="1150" b="0" dirty="0">
                <a:solidFill>
                  <a:srgbClr val="5C5249"/>
                </a:solidFill>
                <a:latin typeface="Segoe UI"/>
              </a:rPr>
              <a:t>, </a:t>
            </a:r>
            <a:r>
              <a:rPr sz="1150" b="0" dirty="0" err="1">
                <a:solidFill>
                  <a:srgbClr val="5C5249"/>
                </a:solidFill>
                <a:latin typeface="Segoe UI"/>
              </a:rPr>
              <a:t>budjet</a:t>
            </a:r>
            <a:r>
              <a:rPr sz="1150" b="0" dirty="0">
                <a:solidFill>
                  <a:srgbClr val="5C5249"/>
                </a:solidFill>
                <a:latin typeface="Segoe UI"/>
              </a:rPr>
              <a:t>, </a:t>
            </a:r>
            <a:r>
              <a:rPr sz="1150" b="0" dirty="0" err="1">
                <a:solidFill>
                  <a:srgbClr val="5C5249"/>
                </a:solidFill>
                <a:latin typeface="Segoe UI"/>
              </a:rPr>
              <a:t>kayfiyatga</a:t>
            </a:r>
            <a:r>
              <a:rPr sz="1150" b="0" dirty="0">
                <a:solidFill>
                  <a:srgbClr val="5C5249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C5249"/>
                </a:solidFill>
                <a:latin typeface="Segoe UI"/>
              </a:rPr>
              <a:t>mos</a:t>
            </a:r>
            <a:r>
              <a:rPr sz="1150" b="0" dirty="0">
                <a:solidFill>
                  <a:srgbClr val="5C5249"/>
                </a:solidFill>
                <a:latin typeface="Segoe UI"/>
              </a:rPr>
              <a:t> joy </a:t>
            </a:r>
            <a:r>
              <a:rPr sz="1150" b="0" dirty="0" err="1">
                <a:solidFill>
                  <a:srgbClr val="5C5249"/>
                </a:solidFill>
                <a:latin typeface="Segoe UI"/>
              </a:rPr>
              <a:t>tanlash</a:t>
            </a:r>
            <a:r>
              <a:rPr sz="1150" b="0" dirty="0">
                <a:solidFill>
                  <a:srgbClr val="5C5249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C5249"/>
                </a:solidFill>
                <a:latin typeface="Segoe UI"/>
              </a:rPr>
              <a:t>doim</a:t>
            </a:r>
            <a:r>
              <a:rPr sz="1150" b="0" dirty="0">
                <a:solidFill>
                  <a:srgbClr val="5C5249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C5249"/>
                </a:solidFill>
                <a:latin typeface="Segoe UI"/>
              </a:rPr>
              <a:t>bahs</a:t>
            </a:r>
            <a:r>
              <a:rPr sz="1150" b="0" dirty="0">
                <a:solidFill>
                  <a:srgbClr val="5C5249"/>
                </a:solidFill>
                <a:latin typeface="Segoe UI"/>
              </a:rPr>
              <a:t>. </a:t>
            </a:r>
            <a:r>
              <a:rPr sz="1150" b="0" dirty="0" err="1">
                <a:solidFill>
                  <a:srgbClr val="5C5249"/>
                </a:solidFill>
                <a:latin typeface="Segoe UI"/>
              </a:rPr>
              <a:t>Yangi</a:t>
            </a:r>
            <a:r>
              <a:rPr sz="1150" b="0" dirty="0">
                <a:solidFill>
                  <a:srgbClr val="5C5249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C5249"/>
                </a:solidFill>
                <a:latin typeface="Segoe UI"/>
              </a:rPr>
              <a:t>joylar</a:t>
            </a:r>
            <a:r>
              <a:rPr sz="1150" b="0" dirty="0">
                <a:solidFill>
                  <a:srgbClr val="5C5249"/>
                </a:solidFill>
                <a:latin typeface="Segoe UI"/>
              </a:rPr>
              <a:t> </a:t>
            </a:r>
            <a:r>
              <a:rPr sz="1150" b="0" dirty="0" err="1">
                <a:solidFill>
                  <a:srgbClr val="5C5249"/>
                </a:solidFill>
                <a:latin typeface="Segoe UI"/>
              </a:rPr>
              <a:t>ko'rinmaydi</a:t>
            </a:r>
            <a:r>
              <a:rPr sz="1150" b="0" dirty="0">
                <a:solidFill>
                  <a:srgbClr val="5C5249"/>
                </a:solidFill>
                <a:latin typeface="Segoe UI"/>
              </a:rPr>
              <a:t>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84848"/>
            <a:ext cx="1875645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50292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50292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410"/>
                </a:solidFill>
                <a:latin typeface="Segoe UI"/>
              </a:rPr>
              <a:t>FoodGPT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48295" y="5486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A9086"/>
                </a:solidFill>
                <a:latin typeface="Segoe UI"/>
              </a:rPr>
              <a:t>02 · Yechim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spc="150">
                <a:solidFill>
                  <a:srgbClr val="FF6B35"/>
                </a:solidFill>
                <a:latin typeface="Segoe UI"/>
              </a:rPr>
              <a:t>YECHIM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1A1410"/>
                </a:solidFill>
                <a:latin typeface="Segoe UI"/>
              </a:rPr>
              <a:t>Tabiiy tilda so'rang — AI 30 soniyada hal qiladi.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834640"/>
            <a:ext cx="5394960" cy="2011680"/>
          </a:xfrm>
          <a:prstGeom prst="roundRect">
            <a:avLst>
              <a:gd name="adj" fmla="val 9000"/>
            </a:avLst>
          </a:prstGeom>
          <a:solidFill>
            <a:srgbClr val="FFF7F0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30632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C5249"/>
                </a:solidFill>
                <a:latin typeface="Segoe UI"/>
              </a:rPr>
              <a:t>Foydalanuvchi yozadi yoki gapiradi: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456432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64815"/>
                </a:solidFill>
                <a:latin typeface="Segoe UI"/>
              </a:rPr>
              <a:t>«200 ming budjetga oilaviy joy»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D64815"/>
                </a:solidFill>
                <a:latin typeface="Segoe UI"/>
              </a:rPr>
              <a:t>«Shashlik yemoqchiman»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834640"/>
            <a:ext cx="5120640" cy="2011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3108960"/>
            <a:ext cx="45720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5C5249"/>
                </a:solidFill>
                <a:latin typeface="Segoe UI"/>
              </a:rPr>
              <a:t>AI niyatni tushunadi — </a:t>
            </a:r>
            <a:r>
              <a:rPr sz="1300" b="1">
                <a:solidFill>
                  <a:srgbClr val="1A1410"/>
                </a:solidFill>
                <a:latin typeface="Segoe UI"/>
              </a:rPr>
              <a:t>taom · budjet · kayfiyat · kompaniya · vaqt</a:t>
            </a:r>
            <a:r>
              <a:rPr sz="1300" b="0">
                <a:solidFill>
                  <a:srgbClr val="5C5249"/>
                </a:solidFill>
                <a:latin typeface="Segoe UI"/>
              </a:rPr>
              <a:t> — va yaqin, ochiq, mos joyni topadi. Bir bosishda: </a:t>
            </a:r>
            <a:r>
              <a:rPr sz="1300" b="1">
                <a:solidFill>
                  <a:srgbClr val="1A1410"/>
                </a:solidFill>
                <a:latin typeface="Segoe UI"/>
              </a:rPr>
              <a:t>bron · navigatsiya · taxi</a:t>
            </a:r>
            <a:r>
              <a:rPr sz="1300" b="0">
                <a:solidFill>
                  <a:srgbClr val="5C5249"/>
                </a:solidFill>
                <a:latin typeface="Segoe UI"/>
              </a:rPr>
              <a:t>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57800"/>
            <a:ext cx="1464868" cy="402336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Matn yoki ovoz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96972" y="5257800"/>
            <a:ext cx="129479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/>
            <a:r>
              <a:rPr sz="1100" b="1">
                <a:solidFill>
                  <a:srgbClr val="5C5249"/>
                </a:solidFill>
                <a:latin typeface="Segoe UI"/>
              </a:rPr>
              <a:t>uz · ru · 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38067" y="5257800"/>
            <a:ext cx="1549908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/>
            <a:r>
              <a:rPr sz="1100" b="1">
                <a:solidFill>
                  <a:srgbClr val="5C5249"/>
                </a:solidFill>
                <a:latin typeface="Segoe UI"/>
              </a:rPr>
              <a:t>Real-time holat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34279" y="5257800"/>
            <a:ext cx="3335731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/>
            <a:r>
              <a:rPr sz="1100" b="1">
                <a:solidFill>
                  <a:srgbClr val="5C5249"/>
                </a:solidFill>
                <a:latin typeface="Segoe UI"/>
              </a:rPr>
              <a:t>Restoran · kafe · choyxona · fastfud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2813468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50292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50292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410"/>
                </a:solidFill>
                <a:latin typeface="Segoe UI"/>
              </a:rPr>
              <a:t>FoodGPT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48295" y="5486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A9086"/>
                </a:solidFill>
                <a:latin typeface="Segoe UI"/>
              </a:rPr>
              <a:t>03 · Mahsulot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spc="150">
                <a:solidFill>
                  <a:srgbClr val="FF6B35"/>
                </a:solidFill>
                <a:latin typeface="Segoe UI"/>
              </a:rPr>
              <a:t>MAHSULOT — QANDAY ISHLAYDI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1410"/>
                </a:solidFill>
                <a:latin typeface="Segoe UI"/>
              </a:rPr>
              <a:t>Lokatsiya → so'rov → tavsiya → amal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017520"/>
            <a:ext cx="2514600" cy="187451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741932" y="3200400"/>
            <a:ext cx="402336" cy="40233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3075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410"/>
                </a:solidFill>
                <a:latin typeface="Segoe UI"/>
              </a:rPr>
              <a:t>Lokatsiya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5249"/>
                </a:solidFill>
                <a:latin typeface="Segoe UI"/>
              </a:rPr>
              <a:t>TG / geo koordinatasi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3584448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3017520"/>
            <a:ext cx="2514600" cy="187451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76572" y="3200400"/>
            <a:ext cx="402336" cy="40233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73075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410"/>
                </a:solidFill>
                <a:latin typeface="Segoe UI"/>
              </a:rPr>
              <a:t>So'rov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11480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5249"/>
                </a:solidFill>
                <a:latin typeface="Segoe UI"/>
              </a:rPr>
              <a:t>Matn yoki ovoz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16752" y="3584448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55080" y="3017520"/>
            <a:ext cx="2514600" cy="187451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411211" y="3200400"/>
            <a:ext cx="402336" cy="40233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73075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410"/>
                </a:solidFill>
                <a:latin typeface="Segoe UI"/>
              </a:rPr>
              <a:t>AI + Geo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11480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5249"/>
                </a:solidFill>
                <a:latin typeface="Segoe UI"/>
              </a:rPr>
              <a:t>Niyat + mos joylar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1392" y="3584448"/>
            <a:ext cx="365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20" y="3017520"/>
            <a:ext cx="2514600" cy="1874519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0245852" y="3200400"/>
            <a:ext cx="402336" cy="40233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3730752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1A1410"/>
                </a:solidFill>
                <a:latin typeface="Segoe UI"/>
              </a:rPr>
              <a:t>Amal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4114800"/>
            <a:ext cx="2240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5249"/>
                </a:solidFill>
                <a:latin typeface="Segoe UI"/>
              </a:rPr>
              <a:t>Bron · zakaz · yo'l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5394960"/>
            <a:ext cx="1719986" cy="402336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egoe UI"/>
              </a:rPr>
              <a:t>Telegram Mini App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78938" y="5394960"/>
            <a:ext cx="675742" cy="402336"/>
          </a:xfrm>
          <a:prstGeom prst="roundRect">
            <a:avLst>
              <a:gd name="adj" fmla="val 19223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Segoe UI"/>
              </a:rPr>
              <a:t>PWA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64408" y="5394959"/>
            <a:ext cx="103967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/>
            <a:r>
              <a:rPr sz="1100" b="1" dirty="0">
                <a:solidFill>
                  <a:srgbClr val="5C5249"/>
                </a:solidFill>
                <a:latin typeface="Segoe UI"/>
              </a:rPr>
              <a:t>Gemini AI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13808" y="5394960"/>
            <a:ext cx="2400300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/>
            <a:r>
              <a:rPr sz="1100" b="1">
                <a:solidFill>
                  <a:srgbClr val="5C5249"/>
                </a:solidFill>
                <a:latin typeface="Segoe UI"/>
              </a:rPr>
              <a:t>Voice: realtime + STT/TTS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60412" y="5394960"/>
            <a:ext cx="1634947" cy="402336"/>
          </a:xfrm>
          <a:prstGeom prst="roundRect">
            <a:avLst>
              <a:gd name="adj" fmla="val 50000"/>
            </a:avLst>
          </a:prstGeom>
          <a:solidFill>
            <a:srgbClr val="E4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/>
            <a:r>
              <a:rPr sz="1100" b="1">
                <a:solidFill>
                  <a:srgbClr val="1FA855"/>
                </a:solidFill>
                <a:latin typeface="Segoe UI"/>
              </a:rPr>
              <a:t>Website ✅ tayyor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784848"/>
            <a:ext cx="3751290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50292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50292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410"/>
                </a:solidFill>
                <a:latin typeface="Segoe UI"/>
              </a:rPr>
              <a:t>FoodGPT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48295" y="5486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A9086"/>
                </a:solidFill>
                <a:latin typeface="Segoe UI"/>
              </a:rPr>
              <a:t>04 · Nega hozir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spc="150">
                <a:solidFill>
                  <a:srgbClr val="FF6B35"/>
                </a:solidFill>
                <a:latin typeface="Segoe UI"/>
              </a:rPr>
              <a:t>TO'G'RI VAQT, OCHIQ BOZOR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700" b="1">
                <a:solidFill>
                  <a:srgbClr val="1A1410"/>
                </a:solidFill>
                <a:latin typeface="Segoe UI"/>
              </a:rPr>
              <a:t>Bozor, texnologiya va odat — bir vaqtda pishdi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>
                <a:solidFill>
                  <a:srgbClr val="FF6B35"/>
                </a:solidFill>
                <a:latin typeface="Segoe UI"/>
              </a:rPr>
              <a:t>30 soniya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31920"/>
            <a:ext cx="2560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5249"/>
                </a:solidFill>
                <a:latin typeface="Segoe UI"/>
              </a:rPr>
              <a:t>«bugun nima yeyman?» savoliga javob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88036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>
                <a:solidFill>
                  <a:srgbClr val="FF6B35"/>
                </a:solidFill>
                <a:latin typeface="Segoe UI"/>
              </a:rPr>
              <a:t>1 ilova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3931920"/>
            <a:ext cx="2560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5249"/>
                </a:solidFill>
                <a:latin typeface="Segoe UI"/>
              </a:rPr>
              <a:t>5 ta o'rniga — chat, bron, zakaz, yo'l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88036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>
                <a:solidFill>
                  <a:srgbClr val="FF6B35"/>
                </a:solidFill>
                <a:latin typeface="Segoe UI"/>
              </a:rPr>
              <a:t>3 til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931920"/>
            <a:ext cx="2560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5249"/>
                </a:solidFill>
                <a:latin typeface="Segoe UI"/>
              </a:rPr>
              <a:t>o'zbek, rus, ingliz — ovoz bilan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59" y="288036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>
                <a:solidFill>
                  <a:srgbClr val="FF6B35"/>
                </a:solidFill>
                <a:latin typeface="Segoe UI"/>
              </a:rPr>
              <a:t>24/7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59" y="3931920"/>
            <a:ext cx="2560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5249"/>
                </a:solidFill>
                <a:latin typeface="Segoe UI"/>
              </a:rPr>
              <a:t>real vaqtda ochiq va tayyor holat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40680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5249"/>
                </a:solidFill>
                <a:latin typeface="Segoe UI"/>
              </a:rPr>
              <a:t>Google Maps'da ovqat izlash odati O'zbekistonda shakllanmagan — bu bo'shliqni FoodGPT to'ldiradi. Telegram deyarli har telefonda; AI narxi endi arzon.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84848"/>
            <a:ext cx="4689113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50292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50292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410"/>
                </a:solidFill>
                <a:latin typeface="Segoe UI"/>
              </a:rPr>
              <a:t>FoodGPT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48295" y="5486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A9086"/>
                </a:solidFill>
                <a:latin typeface="Segoe UI"/>
              </a:rPr>
              <a:t>05 · Bozor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spc="150">
                <a:solidFill>
                  <a:srgbClr val="FF6B35"/>
                </a:solidFill>
                <a:latin typeface="Segoe UI"/>
              </a:rPr>
              <a:t>BOZOR HAJMI · TAXMINIY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A1410"/>
                </a:solidFill>
                <a:latin typeface="Segoe UI"/>
              </a:rPr>
              <a:t>O'sib borayotgan, hali egallanmagan bozor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2608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>
                <a:solidFill>
                  <a:srgbClr val="FF6B35"/>
                </a:solidFill>
                <a:latin typeface="Segoe UI"/>
              </a:rPr>
              <a:t>$2.5B+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77639"/>
            <a:ext cx="3474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5249"/>
                </a:solidFill>
                <a:latin typeface="Segoe UI"/>
              </a:rPr>
              <a:t>TAM — O'zbekiston ovqatlanish / HoReCa bozori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926080"/>
            <a:ext cx="3657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>
                <a:solidFill>
                  <a:srgbClr val="FF6B35"/>
                </a:solidFill>
                <a:latin typeface="Segoe UI"/>
              </a:rPr>
              <a:t>50K+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977639"/>
            <a:ext cx="34747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5249"/>
                </a:solidFill>
                <a:latin typeface="Segoe UI"/>
              </a:rPr>
              <a:t>SAM — restoran, kafe, choyxona, oshxona, fastfud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926080"/>
            <a:ext cx="3566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4200" b="1">
                <a:solidFill>
                  <a:srgbClr val="FF6B35"/>
                </a:solidFill>
                <a:latin typeface="Segoe UI"/>
              </a:rPr>
              <a:t>$40M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977639"/>
            <a:ext cx="3383279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5249"/>
                </a:solidFill>
                <a:latin typeface="Segoe UI"/>
              </a:rPr>
              <a:t>SOM — 3 yilda erishsa bo'ladigan ulush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532120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5249"/>
                </a:solidFill>
                <a:latin typeface="Segoe UI"/>
              </a:rPr>
              <a:t>Aholi 37M+, o'rta sinf o'smoqda. Toshkentdan boshlaymiz → Samarqand, Buxoro, Farg'ona va yirik shaharlarga kengayamiz.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784848"/>
            <a:ext cx="5626936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50292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50292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410"/>
                </a:solidFill>
                <a:latin typeface="Segoe UI"/>
              </a:rPr>
              <a:t>FoodGPT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48295" y="5486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A9086"/>
                </a:solidFill>
                <a:latin typeface="Segoe UI"/>
              </a:rPr>
              <a:t>06 · Biznes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spc="150">
                <a:solidFill>
                  <a:srgbClr val="FF6B35"/>
                </a:solidFill>
                <a:latin typeface="Segoe UI"/>
              </a:rPr>
              <a:t>BIZNES MODEL · TAXMINIY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1410"/>
                </a:solidFill>
                <a:latin typeface="Segoe UI"/>
              </a:rPr>
              <a:t>Gibrid: oylik obuna + komissiya. Foydalanuvchiga bepul.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26080"/>
            <a:ext cx="3429000" cy="2606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20320">
            <a:solidFill>
              <a:srgbClr val="FF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3182112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0">
                <a:solidFill>
                  <a:srgbClr val="1A1410"/>
                </a:solidFill>
                <a:latin typeface="Segoe UI"/>
              </a:rPr>
              <a:t>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3675887"/>
            <a:ext cx="16002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1A1410"/>
                </a:solidFill>
                <a:latin typeface="Segoe UI"/>
              </a:rPr>
              <a:t>Oylik obuna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3712463"/>
            <a:ext cx="960120" cy="329184"/>
          </a:xfrm>
          <a:prstGeom prst="roundRect">
            <a:avLst>
              <a:gd name="adj" fmla="val 50000"/>
            </a:avLst>
          </a:prstGeom>
          <a:solidFill>
            <a:srgbClr val="FF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D64815"/>
                </a:solidFill>
                <a:latin typeface="Segoe UI"/>
              </a:rPr>
              <a:t>ASOSIY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4160520"/>
            <a:ext cx="28803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5C5249"/>
                </a:solidFill>
                <a:latin typeface="Segoe UI"/>
              </a:rPr>
              <a:t>Har joy platformada bo'lish uchun oylik to'laydi. $20–150/oy — ko'rinish, bron paneli, analitika. Barqaror daromad.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2926080"/>
            <a:ext cx="3429000" cy="2606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27448" y="3182112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0">
                <a:solidFill>
                  <a:srgbClr val="1A1410"/>
                </a:solidFill>
                <a:latin typeface="Segoe UI"/>
              </a:rPr>
              <a:t>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7448" y="3712464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410"/>
                </a:solidFill>
                <a:latin typeface="Segoe UI"/>
              </a:rPr>
              <a:t>Bron/zakaz komissiya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4169664"/>
            <a:ext cx="2880360" cy="11978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C5249"/>
                </a:solidFill>
                <a:latin typeface="Segoe UI"/>
              </a:rPr>
              <a:t>Har muvaffaqiyatli bron/zakaz uchun qo'shimcha 3–8%. Obuna ustiga o'suvchi tranzaksion oqim.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2926080"/>
            <a:ext cx="3429000" cy="260604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76488" y="3182112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0">
                <a:solidFill>
                  <a:srgbClr val="1A1410"/>
                </a:solidFill>
                <a:latin typeface="Segoe UI"/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3712464"/>
            <a:ext cx="2880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410"/>
                </a:solidFill>
                <a:latin typeface="Segoe UI"/>
              </a:rPr>
              <a:t>Data &amp; B2B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4169664"/>
            <a:ext cx="2880360" cy="11978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5C5249"/>
                </a:solidFill>
                <a:latin typeface="Segoe UI"/>
              </a:rPr>
              <a:t>Keyin: POS integratsiya, talab analitikasi, reklama. Yuqori marjali kengayish qatlami.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806440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5C5249"/>
                </a:solidFill>
                <a:latin typeface="Segoe UI"/>
              </a:rPr>
              <a:t>Dastavka — hamkor kuryer (Yandex/Uzum). </a:t>
            </a:r>
            <a:r>
              <a:rPr sz="1200" b="1">
                <a:solidFill>
                  <a:srgbClr val="1A1410"/>
                </a:solidFill>
                <a:latin typeface="Segoe UI"/>
              </a:rPr>
              <a:t>Zakaz + data bizda</a:t>
            </a:r>
            <a:r>
              <a:rPr sz="1200" b="0">
                <a:solidFill>
                  <a:srgbClr val="5C5249"/>
                </a:solidFill>
                <a:latin typeface="Segoe UI"/>
              </a:rPr>
              <a:t>, og'ir logistika hamkorda.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784848"/>
            <a:ext cx="6564758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50292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50292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410"/>
                </a:solidFill>
                <a:latin typeface="Segoe UI"/>
              </a:rPr>
              <a:t>FoodGPT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48295" y="5486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A9086"/>
                </a:solidFill>
                <a:latin typeface="Segoe UI"/>
              </a:rPr>
              <a:t>07 · Ustunlik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spc="150">
                <a:solidFill>
                  <a:srgbClr val="FF6B35"/>
                </a:solidFill>
                <a:latin typeface="Segoe UI"/>
              </a:rPr>
              <a:t>RAQOBAT VA HIMOYA (MOAT)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789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1410"/>
                </a:solidFill>
                <a:latin typeface="Segoe UI"/>
              </a:rPr>
              <a:t>Discovery + bron bo'shlig'ini hech kim to'ldirmagan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43200"/>
            <a:ext cx="5394960" cy="30175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2999232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5249"/>
                </a:solidFill>
                <a:latin typeface="Segoe UI"/>
              </a:rPr>
              <a:t>Yandex Eats / Uzum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999232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A9086"/>
                </a:solidFill>
                <a:latin typeface="Segoe UI"/>
              </a:rPr>
              <a:t>Delivery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3456432"/>
            <a:ext cx="4800600" cy="10972"/>
          </a:xfrm>
          <a:prstGeom prst="rect">
            <a:avLst/>
          </a:prstGeom>
          <a:solidFill>
            <a:srgbClr val="E4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3621024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5249"/>
                </a:solidFill>
                <a:latin typeface="Segoe UI"/>
              </a:rPr>
              <a:t>Google Maps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621024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A9086"/>
                </a:solidFill>
                <a:latin typeface="Segoe UI"/>
              </a:rPr>
              <a:t>Xarita, ovqat emas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4078224"/>
            <a:ext cx="4800600" cy="10972"/>
          </a:xfrm>
          <a:prstGeom prst="rect">
            <a:avLst/>
          </a:prstGeom>
          <a:solidFill>
            <a:srgbClr val="E4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242816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5C5249"/>
                </a:solidFill>
                <a:latin typeface="Segoe UI"/>
              </a:rPr>
              <a:t>Instagram / TG guruhlar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242816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A9086"/>
                </a:solidFill>
                <a:latin typeface="Segoe UI"/>
              </a:rPr>
              <a:t>Tartibsiz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4700016"/>
            <a:ext cx="4800600" cy="10972"/>
          </a:xfrm>
          <a:prstGeom prst="rect">
            <a:avLst/>
          </a:prstGeom>
          <a:solidFill>
            <a:srgbClr val="E4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4864607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D64815"/>
                </a:solidFill>
                <a:latin typeface="Segoe UI"/>
              </a:rPr>
              <a:t>FoodGPT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4864607"/>
            <a:ext cx="19659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>
                <a:solidFill>
                  <a:srgbClr val="1FA855"/>
                </a:solidFill>
                <a:latin typeface="Segoe UI"/>
              </a:rPr>
              <a:t>AI + bron + real 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5321807"/>
            <a:ext cx="4800600" cy="10972"/>
          </a:xfrm>
          <a:prstGeom prst="rect">
            <a:avLst/>
          </a:prstGeom>
          <a:solidFill>
            <a:srgbClr val="E4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46520" y="2788920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1A1410"/>
                </a:solidFill>
                <a:latin typeface="Segoe UI"/>
              </a:rPr>
              <a:t>Bizning moat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3832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338328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1410"/>
                </a:solidFill>
                <a:latin typeface="Segoe UI"/>
              </a:rPr>
              <a:t>Real-time data + bron infratuzilmasi (OpenTable yo'li)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20624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84848" y="420624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1410"/>
                </a:solidFill>
                <a:latin typeface="Segoe UI"/>
              </a:rPr>
              <a:t>Tarmoq effekti: joy ↔ foydalanuvchi kuchayadi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50292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84848" y="502920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1410"/>
                </a:solidFill>
                <a:latin typeface="Segoe UI"/>
              </a:rPr>
              <a:t>Mahalliy kontekst: o'zbek tili, Telegram-birinchi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784848"/>
            <a:ext cx="7502581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50292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50292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410"/>
                </a:solidFill>
                <a:latin typeface="Segoe UI"/>
              </a:rPr>
              <a:t>FoodGPT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48295" y="5486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A9086"/>
                </a:solidFill>
                <a:latin typeface="Segoe UI"/>
              </a:rPr>
              <a:t>08 · Yutuqlar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spc="150">
                <a:solidFill>
                  <a:srgbClr val="FF6B35"/>
                </a:solidFill>
                <a:latin typeface="Segoe UI"/>
              </a:rPr>
              <a:t>JAMOA ALLAQACHON ISBOTLAGAN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500" b="1">
                <a:solidFill>
                  <a:srgbClr val="1A1410"/>
                </a:solidFill>
                <a:latin typeface="Segoe UI"/>
              </a:rPr>
              <a:t>Mahsulotni ishga solishdan oldin ham — g'oliblar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43200"/>
            <a:ext cx="5303520" cy="3383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ach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551" y="2917130"/>
            <a:ext cx="3596018" cy="174593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60120" y="468172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B8860B"/>
                </a:solidFill>
                <a:latin typeface="Segoe UI"/>
              </a:rPr>
              <a:t>🥇 1-O'RIN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12064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1410"/>
                </a:solidFill>
                <a:latin typeface="Segoe UI"/>
              </a:rPr>
              <a:t>Build with AI Hackathon 2026 — EdTech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32120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5249"/>
                </a:solidFill>
                <a:latin typeface="Segoe UI"/>
              </a:rPr>
              <a:t>«Nova» jamoasi «Oliy ta'lim» yo'nalishida 1-o'rin. GDG, GlobalMove va vazirlik hamkorligida, 1300+ ishtirokchi orasida.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2743200"/>
            <a:ext cx="5303520" cy="3383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4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ach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071" y="2862072"/>
            <a:ext cx="4179535" cy="178308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6473952" y="4681728"/>
            <a:ext cx="1051560" cy="365760"/>
          </a:xfrm>
          <a:prstGeom prst="roundRect">
            <a:avLst>
              <a:gd name="adj" fmla="val 50000"/>
            </a:avLst>
          </a:prstGeom>
          <a:solidFill>
            <a:srgbClr val="FFF4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8A8A8A"/>
                </a:solidFill>
                <a:latin typeface="Segoe UI"/>
              </a:rPr>
              <a:t>🥈 2-O'RIN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5120640"/>
            <a:ext cx="47548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1A1410"/>
                </a:solidFill>
                <a:latin typeface="Segoe UI"/>
              </a:rPr>
              <a:t>Green Tech Hackathon 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5532120"/>
            <a:ext cx="4800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5C5249"/>
                </a:solidFill>
                <a:latin typeface="Segoe UI"/>
              </a:rPr>
              <a:t>«FEBA» jamoasi ZeroWaste loyihasi bilan 2-o'rin — muddati o'tayotgan mahsulotlarni aniqlab, isrofni kamaytiruvchi xizmat.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784848"/>
            <a:ext cx="8440404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50292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50292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410"/>
                </a:solidFill>
                <a:latin typeface="Segoe UI"/>
              </a:rPr>
              <a:t>FoodGPT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48295" y="5486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A9086"/>
                </a:solidFill>
                <a:latin typeface="Segoe UI"/>
              </a:rPr>
              <a:t>09 · Jamoa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spc="150">
                <a:solidFill>
                  <a:srgbClr val="FF6B35"/>
                </a:solidFill>
                <a:latin typeface="Segoe UI"/>
              </a:rPr>
              <a:t>FOODGPT ORTIDAGI JAMOA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1A1410"/>
                </a:solidFill>
                <a:latin typeface="Segoe UI"/>
              </a:rPr>
              <a:t>Mahsulot, texnologiya va bozorni biladigan 5 co-founder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88920"/>
            <a:ext cx="1975104" cy="1975104"/>
          </a:xfrm>
          <a:prstGeom prst="roundRect">
            <a:avLst>
              <a:gd name="adj" fmla="val 13000"/>
            </a:avLst>
          </a:prstGeom>
          <a:solidFill>
            <a:srgbClr val="F5EFE7"/>
          </a:solidFill>
          <a:ln w="12700">
            <a:solidFill>
              <a:srgbClr val="CFC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team_zax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88920"/>
            <a:ext cx="1975104" cy="19751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4864608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1410"/>
                </a:solidFill>
                <a:latin typeface="Segoe UI"/>
              </a:rPr>
              <a:t>Quvatova Zaxro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30368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spc="40">
                <a:solidFill>
                  <a:srgbClr val="D64815"/>
                </a:solidFill>
                <a:latin typeface="Segoe UI"/>
              </a:rPr>
              <a:t>ASOSCHI · CEO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22976"/>
            <a:ext cx="20665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5249"/>
                </a:solidFill>
                <a:latin typeface="Segoe UI"/>
              </a:rPr>
              <a:t>Mahsulot va strategiya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62072" y="2788920"/>
            <a:ext cx="1975104" cy="1975104"/>
          </a:xfrm>
          <a:prstGeom prst="roundRect">
            <a:avLst>
              <a:gd name="adj" fmla="val 13000"/>
            </a:avLst>
          </a:prstGeom>
          <a:solidFill>
            <a:srgbClr val="F5EFE7"/>
          </a:solidFill>
          <a:ln w="12700">
            <a:solidFill>
              <a:srgbClr val="CFC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team_dilsho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072" y="2788920"/>
            <a:ext cx="1975104" cy="197510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816352" y="4864608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1410"/>
                </a:solidFill>
                <a:latin typeface="Segoe UI"/>
              </a:rPr>
              <a:t>Sultonov Dilshod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6352" y="5230368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spc="40">
                <a:solidFill>
                  <a:srgbClr val="D64815"/>
                </a:solidFill>
                <a:latin typeface="Segoe UI"/>
              </a:rPr>
              <a:t>DATA SCIENTIST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5522976"/>
            <a:ext cx="20665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5249"/>
                </a:solidFill>
                <a:latin typeface="Segoe UI"/>
              </a:rPr>
              <a:t>AI va ma'lumot modellari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38344" y="2788920"/>
            <a:ext cx="1975104" cy="1975104"/>
          </a:xfrm>
          <a:prstGeom prst="roundRect">
            <a:avLst>
              <a:gd name="adj" fmla="val 13000"/>
            </a:avLst>
          </a:prstGeom>
          <a:solidFill>
            <a:srgbClr val="F5EFE7"/>
          </a:solidFill>
          <a:ln w="12700">
            <a:solidFill>
              <a:srgbClr val="CFC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team_shohru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8344" y="2788920"/>
            <a:ext cx="1975104" cy="197510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992624" y="4864608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1410"/>
                </a:solidFill>
                <a:latin typeface="Segoe UI"/>
              </a:rPr>
              <a:t>Egamberganov Shohruh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92624" y="5230368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spc="40">
                <a:solidFill>
                  <a:srgbClr val="D64815"/>
                </a:solidFill>
                <a:latin typeface="Segoe UI"/>
              </a:rPr>
              <a:t>FULL-STACK DEV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92624" y="5522976"/>
            <a:ext cx="20665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5249"/>
                </a:solidFill>
                <a:latin typeface="Segoe UI"/>
              </a:rPr>
              <a:t>Backend va infratuzilma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14616" y="2788920"/>
            <a:ext cx="1975104" cy="1975104"/>
          </a:xfrm>
          <a:prstGeom prst="roundRect">
            <a:avLst>
              <a:gd name="adj" fmla="val 13000"/>
            </a:avLst>
          </a:prstGeom>
          <a:solidFill>
            <a:srgbClr val="F5EFE7"/>
          </a:solidFill>
          <a:ln w="12700">
            <a:solidFill>
              <a:srgbClr val="CFC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23" descr="team_nodirbek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4616" y="2788920"/>
            <a:ext cx="1975104" cy="197510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168896" y="4864608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1410"/>
                </a:solidFill>
                <a:latin typeface="Segoe UI"/>
              </a:rPr>
              <a:t>Ibragimov Nodirbek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8896" y="5230368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spc="40">
                <a:solidFill>
                  <a:srgbClr val="D64815"/>
                </a:solidFill>
                <a:latin typeface="Segoe UI"/>
              </a:rPr>
              <a:t>UI/UX DESIGNER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8896" y="5522976"/>
            <a:ext cx="20665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5249"/>
                </a:solidFill>
                <a:latin typeface="Segoe UI"/>
              </a:rPr>
              <a:t>Mahsulot dizayni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90888" y="2788920"/>
            <a:ext cx="1975104" cy="1975104"/>
          </a:xfrm>
          <a:prstGeom prst="roundRect">
            <a:avLst>
              <a:gd name="adj" fmla="val 13000"/>
            </a:avLst>
          </a:prstGeom>
          <a:solidFill>
            <a:srgbClr val="F5EFE7"/>
          </a:solidFill>
          <a:ln w="12700">
            <a:solidFill>
              <a:srgbClr val="CFC6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28" descr="team_dilshod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0888" y="2788920"/>
            <a:ext cx="1975104" cy="197510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9345168" y="4864608"/>
            <a:ext cx="2066544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A1410"/>
                </a:solidFill>
                <a:latin typeface="Segoe UI"/>
              </a:rPr>
              <a:t>Eshpo'latova Dilshoda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5168" y="5230368"/>
            <a:ext cx="206654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50" b="1" spc="40">
                <a:solidFill>
                  <a:srgbClr val="D64815"/>
                </a:solidFill>
                <a:latin typeface="Segoe UI"/>
              </a:rPr>
              <a:t>DATA ANALYST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8" y="5522976"/>
            <a:ext cx="206654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>
                <a:solidFill>
                  <a:srgbClr val="5C5249"/>
                </a:solidFill>
                <a:latin typeface="Segoe UI"/>
              </a:rPr>
              <a:t>Tahlil va tadqiqot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784848"/>
            <a:ext cx="9378227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50292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50292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410"/>
                </a:solidFill>
                <a:latin typeface="Segoe UI"/>
              </a:rPr>
              <a:t>FoodGPT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48295" y="5486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A9086"/>
                </a:solidFill>
                <a:latin typeface="Segoe UI"/>
              </a:rPr>
              <a:t>10 · Moliya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spc="150">
                <a:solidFill>
                  <a:srgbClr val="FF6B35"/>
                </a:solidFill>
                <a:latin typeface="Segoe UI"/>
              </a:rPr>
              <a:t>MOLIYAVIY PROGNOZ · TAXMINIY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5943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1A1410"/>
                </a:solidFill>
                <a:latin typeface="Segoe UI"/>
              </a:rPr>
              <a:t>3 yillik reja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606040"/>
            <a:ext cx="23225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9A9086"/>
                </a:solidFill>
                <a:latin typeface="Segoe UI"/>
              </a:rPr>
              <a:t>Ko'rsatkich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27832" y="2606040"/>
            <a:ext cx="11338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9A9086"/>
                </a:solidFill>
                <a:latin typeface="Segoe UI"/>
              </a:rPr>
              <a:t>1-y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7992" y="2606040"/>
            <a:ext cx="11338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9A9086"/>
                </a:solidFill>
                <a:latin typeface="Segoe UI"/>
              </a:rPr>
              <a:t>2-y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88152" y="2606040"/>
            <a:ext cx="11338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>
                <a:solidFill>
                  <a:srgbClr val="9A9086"/>
                </a:solidFill>
                <a:latin typeface="Segoe UI"/>
              </a:rPr>
              <a:t>3-y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081528"/>
            <a:ext cx="6309360" cy="10972"/>
          </a:xfrm>
          <a:prstGeom prst="rect">
            <a:avLst/>
          </a:prstGeom>
          <a:solidFill>
            <a:srgbClr val="CFC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" y="3154680"/>
            <a:ext cx="23225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1410"/>
                </a:solidFill>
                <a:latin typeface="Segoe UI"/>
              </a:rPr>
              <a:t>Joylar (obuna)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27832" y="3154680"/>
            <a:ext cx="11338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1410"/>
                </a:solidFill>
                <a:latin typeface="Segoe UI"/>
              </a:rPr>
              <a:t>300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7992" y="3154680"/>
            <a:ext cx="11338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1410"/>
                </a:solidFill>
                <a:latin typeface="Segoe UI"/>
              </a:rPr>
              <a:t>1 500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3154680"/>
            <a:ext cx="11338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1410"/>
                </a:solidFill>
                <a:latin typeface="Segoe UI"/>
              </a:rPr>
              <a:t>5 000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630168"/>
            <a:ext cx="6309360" cy="10972"/>
          </a:xfrm>
          <a:prstGeom prst="rect">
            <a:avLst/>
          </a:prstGeom>
          <a:solidFill>
            <a:srgbClr val="E4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8952" y="3703320"/>
            <a:ext cx="23225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1410"/>
                </a:solidFill>
                <a:latin typeface="Segoe UI"/>
              </a:rPr>
              <a:t>Foydalanuvchi/oy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27832" y="3703320"/>
            <a:ext cx="11338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1410"/>
                </a:solidFill>
                <a:latin typeface="Segoe UI"/>
              </a:rPr>
              <a:t>25K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07992" y="3703320"/>
            <a:ext cx="11338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1410"/>
                </a:solidFill>
                <a:latin typeface="Segoe UI"/>
              </a:rPr>
              <a:t>150K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88152" y="3703320"/>
            <a:ext cx="11338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1410"/>
                </a:solidFill>
                <a:latin typeface="Segoe UI"/>
              </a:rPr>
              <a:t>600K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178808"/>
            <a:ext cx="6309360" cy="10972"/>
          </a:xfrm>
          <a:prstGeom prst="rect">
            <a:avLst/>
          </a:prstGeom>
          <a:solidFill>
            <a:srgbClr val="E4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58952" y="4251959"/>
            <a:ext cx="23225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1A1410"/>
                </a:solidFill>
                <a:latin typeface="Segoe UI"/>
              </a:rPr>
              <a:t>Bron/zakaz/oy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27832" y="4251959"/>
            <a:ext cx="11338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1410"/>
                </a:solidFill>
                <a:latin typeface="Segoe UI"/>
              </a:rPr>
              <a:t>15K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07992" y="4251959"/>
            <a:ext cx="11338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1410"/>
                </a:solidFill>
                <a:latin typeface="Segoe UI"/>
              </a:rPr>
              <a:t>120K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88152" y="4251959"/>
            <a:ext cx="11338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A1410"/>
                </a:solidFill>
                <a:latin typeface="Segoe UI"/>
              </a:rPr>
              <a:t>550K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5800" y="4727448"/>
            <a:ext cx="6309360" cy="10972"/>
          </a:xfrm>
          <a:prstGeom prst="rect">
            <a:avLst/>
          </a:prstGeom>
          <a:solidFill>
            <a:srgbClr val="E4D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58952" y="4800599"/>
            <a:ext cx="232257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64815"/>
                </a:solidFill>
                <a:latin typeface="Segoe UI"/>
              </a:rPr>
              <a:t>Daromad/yil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27832" y="4800599"/>
            <a:ext cx="11338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64815"/>
                </a:solidFill>
                <a:latin typeface="Segoe UI"/>
              </a:rPr>
              <a:t>$0.15M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7992" y="4800599"/>
            <a:ext cx="11338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64815"/>
                </a:solidFill>
                <a:latin typeface="Segoe UI"/>
              </a:rPr>
              <a:t>$1.6M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88152" y="4800599"/>
            <a:ext cx="113385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64815"/>
                </a:solidFill>
                <a:latin typeface="Segoe UI"/>
              </a:rPr>
              <a:t>$8M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5276088"/>
            <a:ext cx="6309360" cy="10972"/>
          </a:xfrm>
          <a:prstGeom prst="rect">
            <a:avLst/>
          </a:prstGeom>
          <a:solidFill>
            <a:srgbClr val="CFC6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132320" y="19202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spc="150">
                <a:solidFill>
                  <a:srgbClr val="FF6B35"/>
                </a:solidFill>
                <a:latin typeface="Segoe UI"/>
              </a:rPr>
              <a:t>YO'L XARITASI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251460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79792" y="251460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410"/>
                </a:solidFill>
                <a:latin typeface="Segoe UI"/>
              </a:rPr>
              <a:t>Website — tayyor 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3044952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9792" y="3044952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410"/>
                </a:solidFill>
                <a:latin typeface="Segoe UI"/>
              </a:rPr>
              <a:t>Backend (AI · voice · geo) — keyingi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0" y="3575304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79792" y="3575304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410"/>
                </a:solidFill>
                <a:latin typeface="Segoe UI"/>
              </a:rPr>
              <a:t>Telegram Mini App — asosiy kanal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4105656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79792" y="4105656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410"/>
                </a:solidFill>
                <a:latin typeface="Segoe UI"/>
              </a:rPr>
              <a:t>PWA + real bron data — moat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32320" y="4636008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79792" y="4636008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1A1410"/>
                </a:solidFill>
                <a:latin typeface="Segoe UI"/>
              </a:rPr>
              <a:t>B2B dashboard + POS — kengayish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784848"/>
            <a:ext cx="10316049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5800" y="50292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>
                <a:solidFill>
                  <a:srgbClr val="FFFFFF"/>
                </a:solidFill>
              </a:rPr>
              <a:t>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0432" y="50292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1A1410"/>
                </a:solidFill>
                <a:latin typeface="Segoe UI"/>
              </a:rPr>
              <a:t>FoodGPT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48295" y="5486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9A9086"/>
                </a:solidFill>
                <a:latin typeface="Segoe UI"/>
              </a:rPr>
              <a:t>11 · Sarmoya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spc="150">
                <a:solidFill>
                  <a:srgbClr val="FF6B35"/>
                </a:solidFill>
                <a:latin typeface="Segoe UI"/>
              </a:rPr>
              <a:t>SARMOYA SO'ROVI · TAXMINIY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6400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>
                <a:solidFill>
                  <a:srgbClr val="1A1410"/>
                </a:solidFill>
                <a:latin typeface="Segoe UI"/>
              </a:rPr>
              <a:t>Seed raund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06040"/>
            <a:ext cx="58521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5C5249"/>
                </a:solidFill>
                <a:latin typeface="Segoe UI"/>
              </a:rPr>
              <a:t>18 oylik runway: mahsulot, birinchi shahar, oqimni isbotlash.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5760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365760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A1410"/>
                </a:solidFill>
                <a:latin typeface="Segoe UI"/>
              </a:rPr>
              <a:t>45% — mahsulot &amp; muhandislik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06240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4206240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A1410"/>
                </a:solidFill>
                <a:latin typeface="Segoe UI"/>
              </a:rPr>
              <a:t>30% — joy onboarding (sotuv/ops)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754879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4754879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A1410"/>
                </a:solidFill>
                <a:latin typeface="Segoe UI"/>
              </a:rPr>
              <a:t>15% — marketing &amp; o'sish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303519"/>
            <a:ext cx="3200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6B35"/>
                </a:solidFill>
                <a:latin typeface="Segoe U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5303519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1A1410"/>
                </a:solidFill>
                <a:latin typeface="Segoe UI"/>
              </a:rPr>
              <a:t>10% — operatsiya &amp; zaxira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2743200"/>
            <a:ext cx="4160520" cy="3063240"/>
          </a:xfrm>
          <a:prstGeom prst="roundRect">
            <a:avLst>
              <a:gd name="adj" fmla="val 9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0" y="3200400"/>
            <a:ext cx="4160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spc="50">
                <a:solidFill>
                  <a:srgbClr val="FFE6D8"/>
                </a:solidFill>
                <a:latin typeface="Segoe UI"/>
              </a:rPr>
              <a:t>SO'RALAYOTGAN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657600"/>
            <a:ext cx="4160520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dirty="0" smtClean="0">
                <a:solidFill>
                  <a:srgbClr val="FFFFFF"/>
                </a:solidFill>
                <a:latin typeface="Segoe UI"/>
              </a:rPr>
              <a:t>$</a:t>
            </a:r>
            <a:r>
              <a:rPr lang="en-US" sz="5000" b="1" dirty="0" smtClean="0">
                <a:solidFill>
                  <a:srgbClr val="FFFFFF"/>
                </a:solidFill>
                <a:latin typeface="Segoe UI"/>
              </a:rPr>
              <a:t>2</a:t>
            </a:r>
            <a:r>
              <a:rPr sz="5000" b="1" dirty="0" smtClean="0">
                <a:solidFill>
                  <a:srgbClr val="FFFFFF"/>
                </a:solidFill>
                <a:latin typeface="Segoe UI"/>
              </a:rPr>
              <a:t>00K</a:t>
            </a:r>
            <a:endParaRPr sz="50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0" y="4846320"/>
            <a:ext cx="4160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FFECE0"/>
                </a:solidFill>
                <a:latin typeface="Segoe UI"/>
              </a:rPr>
              <a:t>Seed · 18 oy runway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784848"/>
            <a:ext cx="11253872" cy="73152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503920" y="-1097280"/>
            <a:ext cx="5120640" cy="3931920"/>
          </a:xfrm>
          <a:prstGeom prst="roundRect">
            <a:avLst>
              <a:gd name="adj" fmla="val 9000"/>
            </a:avLst>
          </a:prstGeom>
          <a:solidFill>
            <a:srgbClr val="FC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-1463040" y="4663440"/>
            <a:ext cx="5120640" cy="3749039"/>
          </a:xfrm>
          <a:prstGeom prst="roundRect">
            <a:avLst>
              <a:gd name="adj" fmla="val 9000"/>
            </a:avLst>
          </a:prstGeom>
          <a:solidFill>
            <a:srgbClr val="FC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937760" y="1371600"/>
            <a:ext cx="548640" cy="548640"/>
          </a:xfrm>
          <a:prstGeom prst="roundRect">
            <a:avLst>
              <a:gd name="adj" fmla="val 3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400">
                <a:solidFill>
                  <a:srgbClr val="FFFFFF"/>
                </a:solidFill>
              </a:rPr>
              <a:t>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4173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1A1410"/>
                </a:solidFill>
                <a:latin typeface="Segoe UI"/>
              </a:rPr>
              <a:t>FoodGPT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941832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A1410"/>
                </a:solidFill>
                <a:latin typeface="Segoe UI"/>
              </a:rPr>
              <a:t>Ovqat qaroriga AI hamroh.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3800" b="1">
                <a:solidFill>
                  <a:srgbClr val="1A1410"/>
                </a:solidFill>
                <a:latin typeface="Segoe UI"/>
              </a:rPr>
              <a:t>O'zbekistondan boshlaymiz.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4343400"/>
            <a:ext cx="7955279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>
                <a:solidFill>
                  <a:srgbClr val="5C5249"/>
                </a:solidFill>
                <a:latin typeface="Segoe UI"/>
              </a:rPr>
              <a:t>Discovery + bron infratuzilmasini biz quramiz — isbotlangan jamoa, tayyor poydevor bilan.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57275" y="5257800"/>
            <a:ext cx="1150543" cy="402336"/>
          </a:xfrm>
          <a:prstGeom prst="roundRect">
            <a:avLst>
              <a:gd name="adj" fmla="val 50000"/>
            </a:avLst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/>
            <a:r>
              <a:rPr sz="1100" b="1" dirty="0" err="1">
                <a:solidFill>
                  <a:srgbClr val="FFFFFF"/>
                </a:solidFill>
                <a:latin typeface="Segoe UI"/>
              </a:rPr>
              <a:t>Rahmat</a:t>
            </a:r>
            <a:endParaRPr sz="1100" b="1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354122" y="5257800"/>
            <a:ext cx="1805025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C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/>
            <a:r>
              <a:rPr sz="1100" b="1">
                <a:solidFill>
                  <a:srgbClr val="5C5249"/>
                </a:solidFill>
                <a:latin typeface="Segoe UI"/>
              </a:rPr>
              <a:t>t.me/FoodGPT_uzbot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5452" y="5257800"/>
            <a:ext cx="2995574" cy="402336"/>
          </a:xfrm>
          <a:prstGeom prst="roundRect">
            <a:avLst>
              <a:gd name="adj" fmla="val 50000"/>
            </a:avLst>
          </a:prstGeom>
          <a:solidFill>
            <a:srgbClr val="E4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/>
            <a:endParaRPr sz="1100" b="1" dirty="0">
              <a:solidFill>
                <a:srgbClr val="1FA855"/>
              </a:solidFill>
              <a:latin typeface="Segoe U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873</Words>
  <Application>Microsoft Office PowerPoint</Application>
  <PresentationFormat>Широкоэкранный</PresentationFormat>
  <Paragraphs>214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7" baseType="lpstr">
      <vt:lpstr>Arial</vt:lpstr>
      <vt:lpstr>Calibri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DIYORBEK IBRAGIMOV</cp:lastModifiedBy>
  <cp:revision>4</cp:revision>
  <dcterms:created xsi:type="dcterms:W3CDTF">2013-01-27T09:14:16Z</dcterms:created>
  <dcterms:modified xsi:type="dcterms:W3CDTF">2026-07-18T06:33:58Z</dcterms:modified>
  <cp:category/>
</cp:coreProperties>
</file>